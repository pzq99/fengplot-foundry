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56" r:id="rId6"/>
  </p:sldIdLst>
  <p:sldSz cx="51206400" cy="5120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7611" userDrawn="1">
          <p15:clr>
            <a:srgbClr val="A4A3A4"/>
          </p15:clr>
        </p15:guide>
        <p15:guide id="2" pos="27948" userDrawn="1">
          <p15:clr>
            <a:srgbClr val="A4A3A4"/>
          </p15:clr>
        </p15:guide>
        <p15:guide id="3" orient="horz" pos="47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秀娜 孙" initials="秀孙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776E"/>
    <a:srgbClr val="FBC3BF"/>
    <a:srgbClr val="F65F54"/>
    <a:srgbClr val="42A6F5"/>
    <a:srgbClr val="8F9FA6"/>
    <a:srgbClr val="FFA726"/>
    <a:srgbClr val="E93F79"/>
    <a:srgbClr val="EC407A"/>
    <a:srgbClr val="67BB6A"/>
    <a:srgbClr val="90A4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70" autoAdjust="0"/>
    <p:restoredTop sz="95455" autoAdjust="0"/>
  </p:normalViewPr>
  <p:slideViewPr>
    <p:cSldViewPr snapToGrid="0" showGuides="1">
      <p:cViewPr>
        <p:scale>
          <a:sx n="25" d="100"/>
          <a:sy n="25" d="100"/>
        </p:scale>
        <p:origin x="1968" y="-942"/>
      </p:cViewPr>
      <p:guideLst>
        <p:guide pos="27611"/>
        <p:guide pos="27948"/>
        <p:guide orient="horz" pos="473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30" d="100"/>
        <a:sy n="30" d="100"/>
      </p:scale>
      <p:origin x="0" y="-5669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Relationship Id="rId11" Type="http://schemas.openxmlformats.org/officeDocument/2006/relationships/commentAuthors" Target="commentAuthors.xml"/><Relationship Id="rId12" Type="http://schemas.openxmlformats.org/officeDocument/2006/relationships/customXml" Target="../customXml/item1.xml"/><Relationship Id="rId13" Type="http://schemas.openxmlformats.org/officeDocument/2006/relationships/customXml" Target="../customXml/item2.xml"/><Relationship Id="rId14" Type="http://schemas.openxmlformats.org/officeDocument/2006/relationships/customXml" Target="../customXml/item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8F106-69FF-44DD-B163-C8165D1898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90ED-4444-4287-B118-118C2358E00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0480" y="8380311"/>
            <a:ext cx="43525440" cy="17827413"/>
          </a:xfrm>
        </p:spPr>
        <p:txBody>
          <a:bodyPr anchor="b"/>
          <a:lstStyle>
            <a:lvl1pPr algn="ctr">
              <a:defRPr sz="3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26895217"/>
            <a:ext cx="38404800" cy="12363023"/>
          </a:xfrm>
        </p:spPr>
        <p:txBody>
          <a:bodyPr/>
          <a:lstStyle>
            <a:lvl1pPr marL="0" indent="0" algn="ctr">
              <a:buNone/>
              <a:defRPr sz="13440"/>
            </a:lvl1pPr>
            <a:lvl2pPr marL="2560320" indent="0" algn="ctr">
              <a:buNone/>
              <a:defRPr sz="11200"/>
            </a:lvl2pPr>
            <a:lvl3pPr marL="5120640" indent="0" algn="ctr">
              <a:buNone/>
              <a:defRPr sz="10080"/>
            </a:lvl3pPr>
            <a:lvl4pPr marL="7680960" indent="0" algn="ctr">
              <a:buNone/>
              <a:defRPr sz="8960"/>
            </a:lvl4pPr>
            <a:lvl5pPr marL="10241280" indent="0" algn="ctr">
              <a:buNone/>
              <a:defRPr sz="8960"/>
            </a:lvl5pPr>
            <a:lvl6pPr marL="12801600" indent="0" algn="ctr">
              <a:buNone/>
              <a:defRPr sz="8960"/>
            </a:lvl6pPr>
            <a:lvl7pPr marL="15361920" indent="0" algn="ctr">
              <a:buNone/>
              <a:defRPr sz="8960"/>
            </a:lvl7pPr>
            <a:lvl8pPr marL="17922240" indent="0" algn="ctr">
              <a:buNone/>
              <a:defRPr sz="8960"/>
            </a:lvl8pPr>
            <a:lvl9pPr marL="20482560" indent="0" algn="ctr">
              <a:buNone/>
              <a:defRPr sz="89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3" y="12766055"/>
            <a:ext cx="44165520" cy="21300436"/>
          </a:xfrm>
        </p:spPr>
        <p:txBody>
          <a:bodyPr anchor="b"/>
          <a:lstStyle>
            <a:lvl1pPr>
              <a:defRPr sz="3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3" y="34268002"/>
            <a:ext cx="44165520" cy="11201396"/>
          </a:xfrm>
        </p:spPr>
        <p:txBody>
          <a:bodyPr/>
          <a:lstStyle>
            <a:lvl1pPr marL="0" indent="0">
              <a:buNone/>
              <a:defRPr sz="13440">
                <a:solidFill>
                  <a:schemeClr val="tx1"/>
                </a:solidFill>
              </a:defRPr>
            </a:lvl1pPr>
            <a:lvl2pPr marL="2560320" indent="0">
              <a:buNone/>
              <a:defRPr sz="11200">
                <a:solidFill>
                  <a:schemeClr val="tx1">
                    <a:tint val="75000"/>
                  </a:schemeClr>
                </a:solidFill>
              </a:defRPr>
            </a:lvl2pPr>
            <a:lvl3pPr marL="5120640" indent="0">
              <a:buNone/>
              <a:defRPr sz="10080">
                <a:solidFill>
                  <a:schemeClr val="tx1">
                    <a:tint val="75000"/>
                  </a:schemeClr>
                </a:solidFill>
              </a:defRPr>
            </a:lvl3pPr>
            <a:lvl4pPr marL="768096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4pPr>
            <a:lvl5pPr marL="1024128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5pPr>
            <a:lvl6pPr marL="1280160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6pPr>
            <a:lvl7pPr marL="1536192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7pPr>
            <a:lvl8pPr marL="1792224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8pPr>
            <a:lvl9pPr marL="2048256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13631334"/>
            <a:ext cx="21762720" cy="324899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13631334"/>
            <a:ext cx="21762720" cy="324899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2726278"/>
            <a:ext cx="44165520" cy="98975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5" y="12552684"/>
            <a:ext cx="21662704" cy="6151876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0" b="1"/>
            </a:lvl3pPr>
            <a:lvl4pPr marL="7680960" indent="0">
              <a:buNone/>
              <a:defRPr sz="8960" b="1"/>
            </a:lvl4pPr>
            <a:lvl5pPr marL="10241280" indent="0">
              <a:buNone/>
              <a:defRPr sz="8960" b="1"/>
            </a:lvl5pPr>
            <a:lvl6pPr marL="12801600" indent="0">
              <a:buNone/>
              <a:defRPr sz="8960" b="1"/>
            </a:lvl6pPr>
            <a:lvl7pPr marL="15361920" indent="0">
              <a:buNone/>
              <a:defRPr sz="8960" b="1"/>
            </a:lvl7pPr>
            <a:lvl8pPr marL="17922240" indent="0">
              <a:buNone/>
              <a:defRPr sz="8960" b="1"/>
            </a:lvl8pPr>
            <a:lvl9pPr marL="20482560" indent="0">
              <a:buNone/>
              <a:defRPr sz="896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5" y="18704560"/>
            <a:ext cx="21662704" cy="275115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3" y="12552684"/>
            <a:ext cx="21769390" cy="6151876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0" b="1"/>
            </a:lvl3pPr>
            <a:lvl4pPr marL="7680960" indent="0">
              <a:buNone/>
              <a:defRPr sz="8960" b="1"/>
            </a:lvl4pPr>
            <a:lvl5pPr marL="10241280" indent="0">
              <a:buNone/>
              <a:defRPr sz="8960" b="1"/>
            </a:lvl5pPr>
            <a:lvl6pPr marL="12801600" indent="0">
              <a:buNone/>
              <a:defRPr sz="8960" b="1"/>
            </a:lvl6pPr>
            <a:lvl7pPr marL="15361920" indent="0">
              <a:buNone/>
              <a:defRPr sz="8960" b="1"/>
            </a:lvl7pPr>
            <a:lvl8pPr marL="17922240" indent="0">
              <a:buNone/>
              <a:defRPr sz="8960" b="1"/>
            </a:lvl8pPr>
            <a:lvl9pPr marL="20482560" indent="0">
              <a:buNone/>
              <a:defRPr sz="896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3" y="18704560"/>
            <a:ext cx="21769390" cy="275115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3413760"/>
            <a:ext cx="16515397" cy="11948160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7372785"/>
            <a:ext cx="25923240" cy="36389733"/>
          </a:xfrm>
        </p:spPr>
        <p:txBody>
          <a:bodyPr/>
          <a:lstStyle>
            <a:lvl1pPr>
              <a:defRPr sz="17920"/>
            </a:lvl1pPr>
            <a:lvl2pPr>
              <a:defRPr sz="15680"/>
            </a:lvl2pPr>
            <a:lvl3pPr>
              <a:defRPr sz="13440"/>
            </a:lvl3pPr>
            <a:lvl4pPr>
              <a:defRPr sz="11200"/>
            </a:lvl4pPr>
            <a:lvl5pPr>
              <a:defRPr sz="11200"/>
            </a:lvl5pPr>
            <a:lvl6pPr>
              <a:defRPr sz="11200"/>
            </a:lvl6pPr>
            <a:lvl7pPr>
              <a:defRPr sz="11200"/>
            </a:lvl7pPr>
            <a:lvl8pPr>
              <a:defRPr sz="11200"/>
            </a:lvl8pPr>
            <a:lvl9pPr>
              <a:defRPr sz="1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5361920"/>
            <a:ext cx="16515397" cy="28459857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0"/>
            </a:lvl2pPr>
            <a:lvl3pPr marL="5120640" indent="0">
              <a:buNone/>
              <a:defRPr sz="6720"/>
            </a:lvl3pPr>
            <a:lvl4pPr marL="7680960" indent="0">
              <a:buNone/>
              <a:defRPr sz="5600"/>
            </a:lvl4pPr>
            <a:lvl5pPr marL="10241280" indent="0">
              <a:buNone/>
              <a:defRPr sz="5600"/>
            </a:lvl5pPr>
            <a:lvl6pPr marL="12801600" indent="0">
              <a:buNone/>
              <a:defRPr sz="5600"/>
            </a:lvl6pPr>
            <a:lvl7pPr marL="15361920" indent="0">
              <a:buNone/>
              <a:defRPr sz="5600"/>
            </a:lvl7pPr>
            <a:lvl8pPr marL="17922240" indent="0">
              <a:buNone/>
              <a:defRPr sz="5600"/>
            </a:lvl8pPr>
            <a:lvl9pPr marL="20482560" indent="0">
              <a:buNone/>
              <a:defRPr sz="5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3413760"/>
            <a:ext cx="16515397" cy="11948160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7372785"/>
            <a:ext cx="25923240" cy="36389733"/>
          </a:xfrm>
        </p:spPr>
        <p:txBody>
          <a:bodyPr anchor="t"/>
          <a:lstStyle>
            <a:lvl1pPr marL="0" indent="0">
              <a:buNone/>
              <a:defRPr sz="17920"/>
            </a:lvl1pPr>
            <a:lvl2pPr marL="2560320" indent="0">
              <a:buNone/>
              <a:defRPr sz="15680"/>
            </a:lvl2pPr>
            <a:lvl3pPr marL="5120640" indent="0">
              <a:buNone/>
              <a:defRPr sz="13440"/>
            </a:lvl3pPr>
            <a:lvl4pPr marL="7680960" indent="0">
              <a:buNone/>
              <a:defRPr sz="11200"/>
            </a:lvl4pPr>
            <a:lvl5pPr marL="10241280" indent="0">
              <a:buNone/>
              <a:defRPr sz="11200"/>
            </a:lvl5pPr>
            <a:lvl6pPr marL="12801600" indent="0">
              <a:buNone/>
              <a:defRPr sz="11200"/>
            </a:lvl6pPr>
            <a:lvl7pPr marL="15361920" indent="0">
              <a:buNone/>
              <a:defRPr sz="11200"/>
            </a:lvl7pPr>
            <a:lvl8pPr marL="17922240" indent="0">
              <a:buNone/>
              <a:defRPr sz="11200"/>
            </a:lvl8pPr>
            <a:lvl9pPr marL="20482560" indent="0">
              <a:buNone/>
              <a:defRPr sz="112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5361920"/>
            <a:ext cx="16515397" cy="28459857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0"/>
            </a:lvl2pPr>
            <a:lvl3pPr marL="5120640" indent="0">
              <a:buNone/>
              <a:defRPr sz="6720"/>
            </a:lvl3pPr>
            <a:lvl4pPr marL="7680960" indent="0">
              <a:buNone/>
              <a:defRPr sz="5600"/>
            </a:lvl4pPr>
            <a:lvl5pPr marL="10241280" indent="0">
              <a:buNone/>
              <a:defRPr sz="5600"/>
            </a:lvl5pPr>
            <a:lvl6pPr marL="12801600" indent="0">
              <a:buNone/>
              <a:defRPr sz="5600"/>
            </a:lvl6pPr>
            <a:lvl7pPr marL="15361920" indent="0">
              <a:buNone/>
              <a:defRPr sz="5600"/>
            </a:lvl7pPr>
            <a:lvl8pPr marL="17922240" indent="0">
              <a:buNone/>
              <a:defRPr sz="5600"/>
            </a:lvl8pPr>
            <a:lvl9pPr marL="20482560" indent="0">
              <a:buNone/>
              <a:defRPr sz="5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3" y="2726267"/>
            <a:ext cx="11041380" cy="4339505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3" y="2726267"/>
            <a:ext cx="32484060" cy="4339505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5EBC-99C5-4E39-A98E-CACAE7E0A0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233F6-70AD-408E-97C9-6E783C02DBB5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0"/>
            <a:ext cx="47548800" cy="2725738"/>
          </a:xfrm>
          <a:solidFill>
            <a:srgbClr val="785F8E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801089" y="-193964"/>
            <a:ext cx="0" cy="51400364"/>
          </a:xfrm>
          <a:prstGeom prst="line">
            <a:avLst/>
          </a:prstGeom>
          <a:ln w="76200">
            <a:solidFill>
              <a:srgbClr val="785F8E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49377598" y="-193964"/>
            <a:ext cx="0" cy="51400364"/>
          </a:xfrm>
          <a:prstGeom prst="line">
            <a:avLst/>
          </a:prstGeom>
          <a:ln w="76200">
            <a:solidFill>
              <a:srgbClr val="785F8E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2726278"/>
            <a:ext cx="44165520" cy="9897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13631334"/>
            <a:ext cx="44165520" cy="32489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47460758"/>
            <a:ext cx="1152144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47460758"/>
            <a:ext cx="1728216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47460758"/>
            <a:ext cx="1152144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5120640" rtl="0" eaLnBrk="1" latinLnBrk="0" hangingPunct="1">
        <a:lnSpc>
          <a:spcPct val="90000"/>
        </a:lnSpc>
        <a:spcBef>
          <a:spcPct val="0"/>
        </a:spcBef>
        <a:buNone/>
        <a:defRPr sz="24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0160" indent="-1280160" algn="l" defTabSz="5120640" rtl="0" eaLnBrk="1" latinLnBrk="0" hangingPunct="1">
        <a:lnSpc>
          <a:spcPct val="90000"/>
        </a:lnSpc>
        <a:spcBef>
          <a:spcPts val="5600"/>
        </a:spcBef>
        <a:buFont typeface="Arial" panose="020B0604020202090204" pitchFamily="34" charset="0"/>
        <a:buChar char="•"/>
        <a:defRPr sz="1568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9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9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3pPr>
      <a:lvl4pPr marL="896112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9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9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408176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9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664208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9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9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9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512064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024128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280160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536192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792224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048256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lIns="0" rIns="0" tIns="0" bIns="0" anchor="ctr"/>
          <a:lstStyle/>
          <a:p>
            <a:pPr algn="ctr"/>
            <a:r>
              <a:rPr sz="12000">
                <a:solidFill>
                  <a:srgbClr val="FFFFFF"/>
                </a:solidFill>
                <a:latin typeface="Microsoft YaHei"/>
              </a:rPr>
              <a:t>FengPlot Demo</a:t>
            </a:r>
          </a:p>
        </p:txBody>
      </p:sp>
      <p:grpSp>
        <p:nvGrpSpPr>
          <p:cNvPr id="63" name="Editable SVG panel 01: panel-01"/>
          <p:cNvGrpSpPr/>
          <p:nvPr/>
        </p:nvGrpSpPr>
        <p:grpSpPr>
          <a:xfrm>
            <a:off x="1828800" y="3063240"/>
            <a:ext cx="15952038" cy="14462760"/>
            <a:chOff x="1828800" y="3063240"/>
            <a:chExt cx="15952038" cy="14462760"/>
          </a:xfrm>
        </p:grpSpPr>
        <p:sp>
          <p:nvSpPr>
            <p:cNvPr id="3" name="Panel layout anchor: panel-01"/>
            <p:cNvSpPr/>
            <p:nvPr/>
          </p:nvSpPr>
          <p:spPr>
            <a:xfrm>
              <a:off x="1828800" y="3063240"/>
              <a:ext cx="15667989" cy="1446275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Common axes anchor: panel-01"/>
            <p:cNvSpPr/>
            <p:nvPr/>
          </p:nvSpPr>
          <p:spPr>
            <a:xfrm>
              <a:off x="6842557" y="5088026"/>
              <a:ext cx="10340873" cy="86776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1828800" y="3063240"/>
              <a:ext cx="15667990" cy="14462760"/>
            </a:xfrm>
            <a:custGeom>
              <a:avLst/>
              <a:gdLst/>
              <a:ahLst/>
              <a:cxnLst/>
              <a:rect l="l" t="t" r="r" b="b"/>
              <a:pathLst>
                <a:path w="468" h="432">
                  <a:moveTo>
                    <a:pt x="0" y="432"/>
                  </a:moveTo>
                  <a:lnTo>
                    <a:pt x="468" y="432"/>
                  </a:lnTo>
                  <a:lnTo>
                    <a:pt x="468" y="0"/>
                  </a:lnTo>
                  <a:lnTo>
                    <a:pt x="0" y="0"/>
                  </a:lnTo>
                  <a:lnTo>
                    <a:pt x="0" y="432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6850592" y="5071957"/>
              <a:ext cx="10344891" cy="8704439"/>
            </a:xfrm>
            <a:custGeom>
              <a:avLst/>
              <a:gdLst/>
              <a:ahLst/>
              <a:cxnLst/>
              <a:rect l="l" t="t" r="r" b="b"/>
              <a:pathLst>
                <a:path w="309" h="260">
                  <a:moveTo>
                    <a:pt x="0" y="260"/>
                  </a:moveTo>
                  <a:lnTo>
                    <a:pt x="309" y="260"/>
                  </a:lnTo>
                  <a:lnTo>
                    <a:pt x="309" y="0"/>
                  </a:lnTo>
                  <a:lnTo>
                    <a:pt x="0" y="0"/>
                  </a:lnTo>
                  <a:lnTo>
                    <a:pt x="0" y="26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7252335" y="13039866"/>
              <a:ext cx="301308" cy="736529"/>
            </a:xfrm>
            <a:custGeom>
              <a:avLst/>
              <a:gdLst/>
              <a:ahLst/>
              <a:cxnLst/>
              <a:rect l="l" t="t" r="r" b="b"/>
              <a:pathLst>
                <a:path w="9" h="22">
                  <a:moveTo>
                    <a:pt x="0" y="22"/>
                  </a:moveTo>
                  <a:lnTo>
                    <a:pt x="9" y="2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7553642" y="10964192"/>
              <a:ext cx="301308" cy="2812203"/>
            </a:xfrm>
            <a:custGeom>
              <a:avLst/>
              <a:gdLst/>
              <a:ahLst/>
              <a:cxnLst/>
              <a:rect l="l" t="t" r="r" b="b"/>
              <a:pathLst>
                <a:path w="9" h="84">
                  <a:moveTo>
                    <a:pt x="0" y="84"/>
                  </a:moveTo>
                  <a:lnTo>
                    <a:pt x="9" y="84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7854950" y="8921997"/>
              <a:ext cx="301308" cy="4854399"/>
            </a:xfrm>
            <a:custGeom>
              <a:avLst/>
              <a:gdLst/>
              <a:ahLst/>
              <a:cxnLst/>
              <a:rect l="l" t="t" r="r" b="b"/>
              <a:pathLst>
                <a:path w="9" h="145">
                  <a:moveTo>
                    <a:pt x="0" y="145"/>
                  </a:moveTo>
                  <a:lnTo>
                    <a:pt x="9" y="145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145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8156258" y="7181109"/>
              <a:ext cx="301308" cy="6595286"/>
            </a:xfrm>
            <a:custGeom>
              <a:avLst/>
              <a:gdLst/>
              <a:ahLst/>
              <a:cxnLst/>
              <a:rect l="l" t="t" r="r" b="b"/>
              <a:pathLst>
                <a:path w="9" h="197">
                  <a:moveTo>
                    <a:pt x="0" y="197"/>
                  </a:moveTo>
                  <a:lnTo>
                    <a:pt x="9" y="19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197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8457565" y="5808486"/>
              <a:ext cx="267829" cy="7967909"/>
            </a:xfrm>
            <a:custGeom>
              <a:avLst/>
              <a:gdLst/>
              <a:ahLst/>
              <a:cxnLst/>
              <a:rect l="l" t="t" r="r" b="b"/>
              <a:pathLst>
                <a:path w="8" h="238">
                  <a:moveTo>
                    <a:pt x="0" y="238"/>
                  </a:moveTo>
                  <a:lnTo>
                    <a:pt x="8" y="238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8725394" y="5507179"/>
              <a:ext cx="301308" cy="8269217"/>
            </a:xfrm>
            <a:custGeom>
              <a:avLst/>
              <a:gdLst/>
              <a:ahLst/>
              <a:cxnLst/>
              <a:rect l="l" t="t" r="r" b="b"/>
              <a:pathLst>
                <a:path w="9" h="247">
                  <a:moveTo>
                    <a:pt x="0" y="247"/>
                  </a:moveTo>
                  <a:lnTo>
                    <a:pt x="9" y="24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247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9026701" y="5507179"/>
              <a:ext cx="301308" cy="8269217"/>
            </a:xfrm>
            <a:custGeom>
              <a:avLst/>
              <a:gdLst/>
              <a:ahLst/>
              <a:cxnLst/>
              <a:rect l="l" t="t" r="r" b="b"/>
              <a:pathLst>
                <a:path w="9" h="247">
                  <a:moveTo>
                    <a:pt x="0" y="247"/>
                  </a:moveTo>
                  <a:lnTo>
                    <a:pt x="9" y="24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247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9328009" y="6980238"/>
              <a:ext cx="301308" cy="6796158"/>
            </a:xfrm>
            <a:custGeom>
              <a:avLst/>
              <a:gdLst/>
              <a:ahLst/>
              <a:cxnLst/>
              <a:rect l="l" t="t" r="r" b="b"/>
              <a:pathLst>
                <a:path w="9" h="203">
                  <a:moveTo>
                    <a:pt x="0" y="203"/>
                  </a:moveTo>
                  <a:lnTo>
                    <a:pt x="9" y="203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203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9629316" y="7917639"/>
              <a:ext cx="301308" cy="5858757"/>
            </a:xfrm>
            <a:custGeom>
              <a:avLst/>
              <a:gdLst/>
              <a:ahLst/>
              <a:cxnLst/>
              <a:rect l="l" t="t" r="r" b="b"/>
              <a:pathLst>
                <a:path w="9" h="175">
                  <a:moveTo>
                    <a:pt x="0" y="175"/>
                  </a:moveTo>
                  <a:lnTo>
                    <a:pt x="9" y="175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9930624" y="8821561"/>
              <a:ext cx="301308" cy="4954834"/>
            </a:xfrm>
            <a:custGeom>
              <a:avLst/>
              <a:gdLst/>
              <a:ahLst/>
              <a:cxnLst/>
              <a:rect l="l" t="t" r="r" b="b"/>
              <a:pathLst>
                <a:path w="9" h="148">
                  <a:moveTo>
                    <a:pt x="0" y="148"/>
                  </a:moveTo>
                  <a:lnTo>
                    <a:pt x="9" y="148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0231931" y="10294620"/>
              <a:ext cx="267829" cy="3481776"/>
            </a:xfrm>
            <a:custGeom>
              <a:avLst/>
              <a:gdLst/>
              <a:ahLst/>
              <a:cxnLst/>
              <a:rect l="l" t="t" r="r" b="b"/>
              <a:pathLst>
                <a:path w="8" h="104">
                  <a:moveTo>
                    <a:pt x="0" y="104"/>
                  </a:moveTo>
                  <a:lnTo>
                    <a:pt x="8" y="104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0499760" y="10897235"/>
              <a:ext cx="301308" cy="2879161"/>
            </a:xfrm>
            <a:custGeom>
              <a:avLst/>
              <a:gdLst/>
              <a:ahLst/>
              <a:cxnLst/>
              <a:rect l="l" t="t" r="r" b="b"/>
              <a:pathLst>
                <a:path w="9" h="86">
                  <a:moveTo>
                    <a:pt x="0" y="86"/>
                  </a:moveTo>
                  <a:lnTo>
                    <a:pt x="9" y="8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801068" y="11098107"/>
              <a:ext cx="301308" cy="2678289"/>
            </a:xfrm>
            <a:custGeom>
              <a:avLst/>
              <a:gdLst/>
              <a:ahLst/>
              <a:cxnLst/>
              <a:rect l="l" t="t" r="r" b="b"/>
              <a:pathLst>
                <a:path w="9" h="80">
                  <a:moveTo>
                    <a:pt x="0" y="80"/>
                  </a:moveTo>
                  <a:lnTo>
                    <a:pt x="9" y="80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102375" y="11901593"/>
              <a:ext cx="301308" cy="1874802"/>
            </a:xfrm>
            <a:custGeom>
              <a:avLst/>
              <a:gdLst/>
              <a:ahLst/>
              <a:cxnLst/>
              <a:rect l="l" t="t" r="r" b="b"/>
              <a:pathLst>
                <a:path w="9" h="56">
                  <a:moveTo>
                    <a:pt x="0" y="56"/>
                  </a:moveTo>
                  <a:lnTo>
                    <a:pt x="9" y="5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403683" y="12303337"/>
              <a:ext cx="301308" cy="1473059"/>
            </a:xfrm>
            <a:custGeom>
              <a:avLst/>
              <a:gdLst/>
              <a:ahLst/>
              <a:cxnLst/>
              <a:rect l="l" t="t" r="r" b="b"/>
              <a:pathLst>
                <a:path w="9" h="44">
                  <a:moveTo>
                    <a:pt x="0" y="44"/>
                  </a:moveTo>
                  <a:lnTo>
                    <a:pt x="9" y="44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704990" y="12805516"/>
              <a:ext cx="301308" cy="970880"/>
            </a:xfrm>
            <a:custGeom>
              <a:avLst/>
              <a:gdLst/>
              <a:ahLst/>
              <a:cxnLst/>
              <a:rect l="l" t="t" r="r" b="b"/>
              <a:pathLst>
                <a:path w="9" h="29">
                  <a:moveTo>
                    <a:pt x="0" y="29"/>
                  </a:moveTo>
                  <a:lnTo>
                    <a:pt x="9" y="29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2006298" y="12838994"/>
              <a:ext cx="301308" cy="937401"/>
            </a:xfrm>
            <a:custGeom>
              <a:avLst/>
              <a:gdLst/>
              <a:ahLst/>
              <a:cxnLst/>
              <a:rect l="l" t="t" r="r" b="b"/>
              <a:pathLst>
                <a:path w="9" h="28">
                  <a:moveTo>
                    <a:pt x="0" y="28"/>
                  </a:moveTo>
                  <a:lnTo>
                    <a:pt x="9" y="28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2307605" y="13307695"/>
              <a:ext cx="267829" cy="468701"/>
            </a:xfrm>
            <a:custGeom>
              <a:avLst/>
              <a:gdLst/>
              <a:ahLst/>
              <a:cxnLst/>
              <a:rect l="l" t="t" r="r" b="b"/>
              <a:pathLst>
                <a:path w="8" h="14">
                  <a:moveTo>
                    <a:pt x="0" y="14"/>
                  </a:moveTo>
                  <a:lnTo>
                    <a:pt x="8" y="14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2575434" y="13408131"/>
              <a:ext cx="301308" cy="368265"/>
            </a:xfrm>
            <a:custGeom>
              <a:avLst/>
              <a:gdLst/>
              <a:ahLst/>
              <a:cxnLst/>
              <a:rect l="l" t="t" r="r" b="b"/>
              <a:pathLst>
                <a:path w="9" h="11">
                  <a:moveTo>
                    <a:pt x="0" y="11"/>
                  </a:moveTo>
                  <a:lnTo>
                    <a:pt x="9" y="11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12876742" y="13542045"/>
              <a:ext cx="301308" cy="234350"/>
            </a:xfrm>
            <a:custGeom>
              <a:avLst/>
              <a:gdLst/>
              <a:ahLst/>
              <a:cxnLst/>
              <a:rect l="l" t="t" r="r" b="b"/>
              <a:pathLst>
                <a:path w="9" h="7">
                  <a:moveTo>
                    <a:pt x="0" y="7"/>
                  </a:moveTo>
                  <a:lnTo>
                    <a:pt x="9" y="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13178049" y="13609002"/>
              <a:ext cx="301308" cy="167393"/>
            </a:xfrm>
            <a:custGeom>
              <a:avLst/>
              <a:gdLst/>
              <a:ahLst/>
              <a:cxnLst/>
              <a:rect l="l" t="t" r="r" b="b"/>
              <a:pathLst>
                <a:path w="9" h="5">
                  <a:moveTo>
                    <a:pt x="0" y="5"/>
                  </a:moveTo>
                  <a:lnTo>
                    <a:pt x="9" y="5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13479357" y="13675960"/>
              <a:ext cx="301308" cy="100436"/>
            </a:xfrm>
            <a:custGeom>
              <a:avLst/>
              <a:gdLst/>
              <a:ahLst/>
              <a:cxnLst/>
              <a:rect l="l" t="t" r="r" b="b"/>
              <a:pathLst>
                <a:path w="9" h="3">
                  <a:moveTo>
                    <a:pt x="0" y="3"/>
                  </a:moveTo>
                  <a:lnTo>
                    <a:pt x="9" y="3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3780664" y="13709438"/>
              <a:ext cx="301308" cy="66957"/>
            </a:xfrm>
            <a:custGeom>
              <a:avLst/>
              <a:gdLst/>
              <a:ahLst/>
              <a:cxnLst/>
              <a:rect l="l" t="t" r="r" b="b"/>
              <a:pathLst>
                <a:path w="9" h="2">
                  <a:moveTo>
                    <a:pt x="0" y="2"/>
                  </a:moveTo>
                  <a:lnTo>
                    <a:pt x="9" y="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4081972" y="13675960"/>
              <a:ext cx="301308" cy="100436"/>
            </a:xfrm>
            <a:custGeom>
              <a:avLst/>
              <a:gdLst/>
              <a:ahLst/>
              <a:cxnLst/>
              <a:rect l="l" t="t" r="r" b="b"/>
              <a:pathLst>
                <a:path w="9" h="3">
                  <a:moveTo>
                    <a:pt x="0" y="3"/>
                  </a:moveTo>
                  <a:lnTo>
                    <a:pt x="9" y="3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4383279" y="13742917"/>
              <a:ext cx="267829" cy="33479"/>
            </a:xfrm>
            <a:custGeom>
              <a:avLst/>
              <a:gdLst/>
              <a:ahLst/>
              <a:cxnLst/>
              <a:rect l="l" t="t" r="r" b="b"/>
              <a:pathLst>
                <a:path w="8" h="1">
                  <a:moveTo>
                    <a:pt x="0" y="1"/>
                  </a:moveTo>
                  <a:lnTo>
                    <a:pt x="8" y="1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4651108" y="13742917"/>
              <a:ext cx="301308" cy="33479"/>
            </a:xfrm>
            <a:custGeom>
              <a:avLst/>
              <a:gdLst/>
              <a:ahLst/>
              <a:cxnLst/>
              <a:rect l="l" t="t" r="r" b="b"/>
              <a:pathLst>
                <a:path w="9" h="1">
                  <a:moveTo>
                    <a:pt x="0" y="1"/>
                  </a:moveTo>
                  <a:lnTo>
                    <a:pt x="9" y="1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4952416" y="13776396"/>
              <a:ext cx="301308" cy="0"/>
            </a:xfrm>
            <a:custGeom>
              <a:avLst/>
              <a:gdLst/>
              <a:ahLst/>
              <a:cxnLst/>
              <a:rect l="l" t="t" r="r" b="b"/>
              <a:pathLst>
                <a:path w="9" h="0">
                  <a:moveTo>
                    <a:pt x="0" y="0"/>
                  </a:moveTo>
                  <a:lnTo>
                    <a:pt x="9" y="0"/>
                  </a:lnTo>
                  <a:lnTo>
                    <a:pt x="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5253723" y="13742917"/>
              <a:ext cx="301308" cy="33479"/>
            </a:xfrm>
            <a:custGeom>
              <a:avLst/>
              <a:gdLst/>
              <a:ahLst/>
              <a:cxnLst/>
              <a:rect l="l" t="t" r="r" b="b"/>
              <a:pathLst>
                <a:path w="9" h="1">
                  <a:moveTo>
                    <a:pt x="0" y="1"/>
                  </a:moveTo>
                  <a:lnTo>
                    <a:pt x="9" y="1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A6D6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624958" y="137763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040054" y="14041115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20</a:t>
              </a:r>
            </a:p>
          </p:txBody>
        </p:sp>
        <p:sp>
          <p:nvSpPr>
            <p:cNvPr id="37" name="Freeform 36"/>
            <p:cNvSpPr/>
            <p:nvPr/>
          </p:nvSpPr>
          <p:spPr>
            <a:xfrm>
              <a:off x="10767589" y="137763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181118" y="14041115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40</a:t>
              </a:r>
            </a:p>
          </p:txBody>
        </p:sp>
        <p:sp>
          <p:nvSpPr>
            <p:cNvPr id="39" name="Freeform 38"/>
            <p:cNvSpPr/>
            <p:nvPr/>
          </p:nvSpPr>
          <p:spPr>
            <a:xfrm>
              <a:off x="12910220" y="137763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2322182" y="14041115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60</a:t>
              </a:r>
            </a:p>
          </p:txBody>
        </p:sp>
        <p:sp>
          <p:nvSpPr>
            <p:cNvPr id="41" name="Freeform 40"/>
            <p:cNvSpPr/>
            <p:nvPr/>
          </p:nvSpPr>
          <p:spPr>
            <a:xfrm>
              <a:off x="15052851" y="137763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4463246" y="14041115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80</a:t>
              </a:r>
            </a:p>
          </p:txBody>
        </p:sp>
        <p:sp>
          <p:nvSpPr>
            <p:cNvPr id="43" name="Freeform 42"/>
            <p:cNvSpPr/>
            <p:nvPr/>
          </p:nvSpPr>
          <p:spPr>
            <a:xfrm>
              <a:off x="17195482" y="137763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6586022" y="14041115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100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140004" y="14823353"/>
              <a:ext cx="9745980" cy="9753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000" i="1" b="0">
                  <a:solidFill>
                    <a:srgbClr val="000000"/>
                  </a:solidFill>
                  <a:latin typeface="Calibri"/>
                </a:rPr>
                <a:t>Number of ligand atoms</a:t>
              </a:r>
            </a:p>
          </p:txBody>
        </p:sp>
        <p:sp>
          <p:nvSpPr>
            <p:cNvPr id="46" name="Freeform 45"/>
            <p:cNvSpPr/>
            <p:nvPr/>
          </p:nvSpPr>
          <p:spPr>
            <a:xfrm>
              <a:off x="6850592" y="13776396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6616241" y="13776396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354313" y="13429693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</a:t>
              </a:r>
            </a:p>
          </p:txBody>
        </p:sp>
        <p:sp>
          <p:nvSpPr>
            <p:cNvPr id="49" name="Freeform 48"/>
            <p:cNvSpPr/>
            <p:nvPr/>
          </p:nvSpPr>
          <p:spPr>
            <a:xfrm>
              <a:off x="6850592" y="10294620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6616241" y="10294620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317737" y="9964521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200</a:t>
              </a:r>
            </a:p>
          </p:txBody>
        </p:sp>
        <p:sp>
          <p:nvSpPr>
            <p:cNvPr id="52" name="Freeform 51"/>
            <p:cNvSpPr/>
            <p:nvPr/>
          </p:nvSpPr>
          <p:spPr>
            <a:xfrm>
              <a:off x="6850592" y="6846323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6616241" y="6846323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317737" y="6499350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400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590040" y="8245754"/>
              <a:ext cx="975360" cy="2362200"/>
            </a:xfrm>
            <a:prstGeom prst="rect">
              <a:avLst/>
            </a:prstGeom>
            <a:noFill/>
          </p:spPr>
          <p:txBody>
            <a:bodyPr wrap="none" lIns="0" rIns="0" tIns="0" bIns="0" anchor="ctr" vert="vert27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000" i="1" b="0">
                  <a:solidFill>
                    <a:srgbClr val="000000"/>
                  </a:solidFill>
                  <a:latin typeface="Calibri"/>
                </a:rPr>
                <a:t>Count</a:t>
              </a:r>
            </a:p>
          </p:txBody>
        </p:sp>
        <p:sp>
          <p:nvSpPr>
            <p:cNvPr id="56" name="Freeform 55"/>
            <p:cNvSpPr/>
            <p:nvPr/>
          </p:nvSpPr>
          <p:spPr>
            <a:xfrm>
              <a:off x="9227573" y="5071957"/>
              <a:ext cx="0" cy="8704439"/>
            </a:xfrm>
            <a:custGeom>
              <a:avLst/>
              <a:gdLst/>
              <a:ahLst/>
              <a:cxnLst/>
              <a:rect l="l" t="t" r="r" b="b"/>
              <a:pathLst>
                <a:path w="0" h="260">
                  <a:moveTo>
                    <a:pt x="0" y="260"/>
                  </a:moveTo>
                  <a:lnTo>
                    <a:pt x="0" y="0"/>
                  </a:lnTo>
                </a:path>
              </a:pathLst>
            </a:custGeom>
            <a:noFill/>
            <a:ln w="133914">
              <a:solidFill>
                <a:srgbClr val="4CAF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Freeform 56"/>
            <p:cNvSpPr/>
            <p:nvPr/>
          </p:nvSpPr>
          <p:spPr>
            <a:xfrm>
              <a:off x="9428445" y="5071957"/>
              <a:ext cx="0" cy="8704439"/>
            </a:xfrm>
            <a:custGeom>
              <a:avLst/>
              <a:gdLst/>
              <a:ahLst/>
              <a:cxnLst/>
              <a:rect l="l" t="t" r="r" b="b"/>
              <a:pathLst>
                <a:path w="0" h="260">
                  <a:moveTo>
                    <a:pt x="0" y="260"/>
                  </a:moveTo>
                  <a:lnTo>
                    <a:pt x="0" y="0"/>
                  </a:lnTo>
                </a:path>
              </a:pathLst>
            </a:custGeom>
            <a:noFill/>
            <a:ln w="133914">
              <a:solidFill>
                <a:srgbClr val="F4433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Freeform 57"/>
            <p:cNvSpPr/>
            <p:nvPr/>
          </p:nvSpPr>
          <p:spPr>
            <a:xfrm>
              <a:off x="6850592" y="5071957"/>
              <a:ext cx="0" cy="8704439"/>
            </a:xfrm>
            <a:custGeom>
              <a:avLst/>
              <a:gdLst/>
              <a:ahLst/>
              <a:cxnLst/>
              <a:rect l="l" t="t" r="r" b="b"/>
              <a:pathLst>
                <a:path w="0" h="260">
                  <a:moveTo>
                    <a:pt x="0" y="26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Freeform 58"/>
            <p:cNvSpPr/>
            <p:nvPr/>
          </p:nvSpPr>
          <p:spPr>
            <a:xfrm>
              <a:off x="6850592" y="13776396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575879" y="5271607"/>
              <a:ext cx="1542288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4CAF50"/>
                  </a:solidFill>
                  <a:latin typeface="Calibri"/>
                </a:rPr>
                <a:t>25.7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530055" y="6226150"/>
              <a:ext cx="1542288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F44336"/>
                  </a:solidFill>
                  <a:latin typeface="Calibri"/>
                </a:rPr>
                <a:t>27.5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194560" y="3292820"/>
              <a:ext cx="11244580" cy="1235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7600" i="1" b="1">
                  <a:solidFill>
                    <a:srgbClr val="000000"/>
                  </a:solidFill>
                  <a:latin typeface="Calibri"/>
                </a:rPr>
                <a:t>a. Ligand atom count</a:t>
              </a:r>
            </a:p>
          </p:txBody>
        </p:sp>
      </p:grpSp>
      <p:grpSp>
        <p:nvGrpSpPr>
          <p:cNvPr id="129" name="Editable SVG panel 02: panel-02"/>
          <p:cNvGrpSpPr/>
          <p:nvPr/>
        </p:nvGrpSpPr>
        <p:grpSpPr>
          <a:xfrm>
            <a:off x="17769205" y="3063240"/>
            <a:ext cx="16125774" cy="14462760"/>
            <a:chOff x="17769205" y="3063240"/>
            <a:chExt cx="16125774" cy="14462760"/>
          </a:xfrm>
        </p:grpSpPr>
        <p:sp>
          <p:nvSpPr>
            <p:cNvPr id="64" name="Panel layout anchor: panel-02"/>
            <p:cNvSpPr/>
            <p:nvPr/>
          </p:nvSpPr>
          <p:spPr>
            <a:xfrm>
              <a:off x="17769205" y="3063240"/>
              <a:ext cx="15667989" cy="1446275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Common axes anchor: panel-02"/>
            <p:cNvSpPr/>
            <p:nvPr/>
          </p:nvSpPr>
          <p:spPr>
            <a:xfrm>
              <a:off x="22782962" y="5088026"/>
              <a:ext cx="10340873" cy="86776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Freeform 65"/>
            <p:cNvSpPr/>
            <p:nvPr/>
          </p:nvSpPr>
          <p:spPr>
            <a:xfrm>
              <a:off x="17769205" y="3063240"/>
              <a:ext cx="15667990" cy="14462760"/>
            </a:xfrm>
            <a:custGeom>
              <a:avLst/>
              <a:gdLst/>
              <a:ahLst/>
              <a:cxnLst/>
              <a:rect l="l" t="t" r="r" b="b"/>
              <a:pathLst>
                <a:path w="468" h="432">
                  <a:moveTo>
                    <a:pt x="0" y="432"/>
                  </a:moveTo>
                  <a:lnTo>
                    <a:pt x="468" y="432"/>
                  </a:lnTo>
                  <a:lnTo>
                    <a:pt x="468" y="0"/>
                  </a:lnTo>
                  <a:lnTo>
                    <a:pt x="0" y="0"/>
                  </a:lnTo>
                  <a:lnTo>
                    <a:pt x="0" y="432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Freeform 66"/>
            <p:cNvSpPr/>
            <p:nvPr/>
          </p:nvSpPr>
          <p:spPr>
            <a:xfrm>
              <a:off x="22790997" y="5071957"/>
              <a:ext cx="10344891" cy="8704439"/>
            </a:xfrm>
            <a:custGeom>
              <a:avLst/>
              <a:gdLst/>
              <a:ahLst/>
              <a:cxnLst/>
              <a:rect l="l" t="t" r="r" b="b"/>
              <a:pathLst>
                <a:path w="309" h="260">
                  <a:moveTo>
                    <a:pt x="0" y="260"/>
                  </a:moveTo>
                  <a:lnTo>
                    <a:pt x="309" y="260"/>
                  </a:lnTo>
                  <a:lnTo>
                    <a:pt x="309" y="0"/>
                  </a:lnTo>
                  <a:lnTo>
                    <a:pt x="0" y="0"/>
                  </a:lnTo>
                  <a:lnTo>
                    <a:pt x="0" y="26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Freeform 67"/>
            <p:cNvSpPr/>
            <p:nvPr/>
          </p:nvSpPr>
          <p:spPr>
            <a:xfrm>
              <a:off x="23025347" y="13441609"/>
              <a:ext cx="334786" cy="334786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0" y="10"/>
                  </a:move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Freeform 68"/>
            <p:cNvSpPr/>
            <p:nvPr/>
          </p:nvSpPr>
          <p:spPr>
            <a:xfrm>
              <a:off x="23360133" y="13006388"/>
              <a:ext cx="334786" cy="770008"/>
            </a:xfrm>
            <a:custGeom>
              <a:avLst/>
              <a:gdLst/>
              <a:ahLst/>
              <a:cxnLst/>
              <a:rect l="l" t="t" r="r" b="b"/>
              <a:pathLst>
                <a:path w="10" h="23">
                  <a:moveTo>
                    <a:pt x="0" y="23"/>
                  </a:moveTo>
                  <a:lnTo>
                    <a:pt x="10" y="23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Freeform 69"/>
            <p:cNvSpPr/>
            <p:nvPr/>
          </p:nvSpPr>
          <p:spPr>
            <a:xfrm>
              <a:off x="23694919" y="12135944"/>
              <a:ext cx="334786" cy="1640452"/>
            </a:xfrm>
            <a:custGeom>
              <a:avLst/>
              <a:gdLst/>
              <a:ahLst/>
              <a:cxnLst/>
              <a:rect l="l" t="t" r="r" b="b"/>
              <a:pathLst>
                <a:path w="10" h="49">
                  <a:moveTo>
                    <a:pt x="0" y="49"/>
                  </a:moveTo>
                  <a:lnTo>
                    <a:pt x="10" y="4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24029705" y="10462013"/>
              <a:ext cx="334786" cy="3314382"/>
            </a:xfrm>
            <a:custGeom>
              <a:avLst/>
              <a:gdLst/>
              <a:ahLst/>
              <a:cxnLst/>
              <a:rect l="l" t="t" r="r" b="b"/>
              <a:pathLst>
                <a:path w="10" h="99">
                  <a:moveTo>
                    <a:pt x="0" y="99"/>
                  </a:moveTo>
                  <a:lnTo>
                    <a:pt x="10" y="9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99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24364491" y="9959834"/>
              <a:ext cx="334786" cy="3816562"/>
            </a:xfrm>
            <a:custGeom>
              <a:avLst/>
              <a:gdLst/>
              <a:ahLst/>
              <a:cxnLst/>
              <a:rect l="l" t="t" r="r" b="b"/>
              <a:pathLst>
                <a:path w="10" h="114">
                  <a:moveTo>
                    <a:pt x="0" y="114"/>
                  </a:moveTo>
                  <a:lnTo>
                    <a:pt x="10" y="114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Freeform 72"/>
            <p:cNvSpPr/>
            <p:nvPr/>
          </p:nvSpPr>
          <p:spPr>
            <a:xfrm>
              <a:off x="24699277" y="9156347"/>
              <a:ext cx="334786" cy="4620048"/>
            </a:xfrm>
            <a:custGeom>
              <a:avLst/>
              <a:gdLst/>
              <a:ahLst/>
              <a:cxnLst/>
              <a:rect l="l" t="t" r="r" b="b"/>
              <a:pathLst>
                <a:path w="10" h="138">
                  <a:moveTo>
                    <a:pt x="0" y="138"/>
                  </a:moveTo>
                  <a:lnTo>
                    <a:pt x="10" y="138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Freeform 73"/>
            <p:cNvSpPr/>
            <p:nvPr/>
          </p:nvSpPr>
          <p:spPr>
            <a:xfrm>
              <a:off x="25034064" y="8085032"/>
              <a:ext cx="334786" cy="5691364"/>
            </a:xfrm>
            <a:custGeom>
              <a:avLst/>
              <a:gdLst/>
              <a:ahLst/>
              <a:cxnLst/>
              <a:rect l="l" t="t" r="r" b="b"/>
              <a:pathLst>
                <a:path w="10" h="170">
                  <a:moveTo>
                    <a:pt x="0" y="170"/>
                  </a:moveTo>
                  <a:lnTo>
                    <a:pt x="10" y="17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70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Freeform 74"/>
            <p:cNvSpPr/>
            <p:nvPr/>
          </p:nvSpPr>
          <p:spPr>
            <a:xfrm>
              <a:off x="25368850" y="7415459"/>
              <a:ext cx="334786" cy="6360936"/>
            </a:xfrm>
            <a:custGeom>
              <a:avLst/>
              <a:gdLst/>
              <a:ahLst/>
              <a:cxnLst/>
              <a:rect l="l" t="t" r="r" b="b"/>
              <a:pathLst>
                <a:path w="10" h="190">
                  <a:moveTo>
                    <a:pt x="0" y="190"/>
                  </a:moveTo>
                  <a:lnTo>
                    <a:pt x="10" y="19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90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25703636" y="6511537"/>
              <a:ext cx="334786" cy="7264859"/>
            </a:xfrm>
            <a:custGeom>
              <a:avLst/>
              <a:gdLst/>
              <a:ahLst/>
              <a:cxnLst/>
              <a:rect l="l" t="t" r="r" b="b"/>
              <a:pathLst>
                <a:path w="10" h="217">
                  <a:moveTo>
                    <a:pt x="0" y="217"/>
                  </a:moveTo>
                  <a:lnTo>
                    <a:pt x="10" y="21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26038422" y="6745887"/>
              <a:ext cx="334786" cy="7030508"/>
            </a:xfrm>
            <a:custGeom>
              <a:avLst/>
              <a:gdLst/>
              <a:ahLst/>
              <a:cxnLst/>
              <a:rect l="l" t="t" r="r" b="b"/>
              <a:pathLst>
                <a:path w="10" h="210">
                  <a:moveTo>
                    <a:pt x="0" y="210"/>
                  </a:moveTo>
                  <a:lnTo>
                    <a:pt x="10" y="21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10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26373208" y="5507179"/>
              <a:ext cx="334786" cy="8269217"/>
            </a:xfrm>
            <a:custGeom>
              <a:avLst/>
              <a:gdLst/>
              <a:ahLst/>
              <a:cxnLst/>
              <a:rect l="l" t="t" r="r" b="b"/>
              <a:pathLst>
                <a:path w="10" h="247">
                  <a:moveTo>
                    <a:pt x="0" y="247"/>
                  </a:moveTo>
                  <a:lnTo>
                    <a:pt x="10" y="24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47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26707994" y="5775008"/>
              <a:ext cx="334786" cy="8001388"/>
            </a:xfrm>
            <a:custGeom>
              <a:avLst/>
              <a:gdLst/>
              <a:ahLst/>
              <a:cxnLst/>
              <a:rect l="l" t="t" r="r" b="b"/>
              <a:pathLst>
                <a:path w="10" h="239">
                  <a:moveTo>
                    <a:pt x="0" y="239"/>
                  </a:moveTo>
                  <a:lnTo>
                    <a:pt x="10" y="23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27042780" y="5808486"/>
              <a:ext cx="334786" cy="7967909"/>
            </a:xfrm>
            <a:custGeom>
              <a:avLst/>
              <a:gdLst/>
              <a:ahLst/>
              <a:cxnLst/>
              <a:rect l="l" t="t" r="r" b="b"/>
              <a:pathLst>
                <a:path w="10" h="238">
                  <a:moveTo>
                    <a:pt x="0" y="238"/>
                  </a:moveTo>
                  <a:lnTo>
                    <a:pt x="10" y="238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27377566" y="6076315"/>
              <a:ext cx="334786" cy="7700081"/>
            </a:xfrm>
            <a:custGeom>
              <a:avLst/>
              <a:gdLst/>
              <a:ahLst/>
              <a:cxnLst/>
              <a:rect l="l" t="t" r="r" b="b"/>
              <a:pathLst>
                <a:path w="10" h="230">
                  <a:moveTo>
                    <a:pt x="0" y="230"/>
                  </a:moveTo>
                  <a:lnTo>
                    <a:pt x="10" y="23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30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27712353" y="6645451"/>
              <a:ext cx="301308" cy="7130944"/>
            </a:xfrm>
            <a:custGeom>
              <a:avLst/>
              <a:gdLst/>
              <a:ahLst/>
              <a:cxnLst/>
              <a:rect l="l" t="t" r="r" b="b"/>
              <a:pathLst>
                <a:path w="9" h="213">
                  <a:moveTo>
                    <a:pt x="0" y="213"/>
                  </a:moveTo>
                  <a:lnTo>
                    <a:pt x="9" y="213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213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Freeform 82"/>
            <p:cNvSpPr/>
            <p:nvPr/>
          </p:nvSpPr>
          <p:spPr>
            <a:xfrm>
              <a:off x="28013660" y="6009358"/>
              <a:ext cx="334786" cy="7767038"/>
            </a:xfrm>
            <a:custGeom>
              <a:avLst/>
              <a:gdLst/>
              <a:ahLst/>
              <a:cxnLst/>
              <a:rect l="l" t="t" r="r" b="b"/>
              <a:pathLst>
                <a:path w="10" h="232">
                  <a:moveTo>
                    <a:pt x="0" y="232"/>
                  </a:moveTo>
                  <a:lnTo>
                    <a:pt x="10" y="23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32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Freeform 83"/>
            <p:cNvSpPr/>
            <p:nvPr/>
          </p:nvSpPr>
          <p:spPr>
            <a:xfrm>
              <a:off x="28348446" y="7013716"/>
              <a:ext cx="334786" cy="6762679"/>
            </a:xfrm>
            <a:custGeom>
              <a:avLst/>
              <a:gdLst/>
              <a:ahLst/>
              <a:cxnLst/>
              <a:rect l="l" t="t" r="r" b="b"/>
              <a:pathLst>
                <a:path w="10" h="202">
                  <a:moveTo>
                    <a:pt x="0" y="202"/>
                  </a:moveTo>
                  <a:lnTo>
                    <a:pt x="10" y="20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02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Freeform 84"/>
            <p:cNvSpPr/>
            <p:nvPr/>
          </p:nvSpPr>
          <p:spPr>
            <a:xfrm>
              <a:off x="28683232" y="7415459"/>
              <a:ext cx="334786" cy="6360936"/>
            </a:xfrm>
            <a:custGeom>
              <a:avLst/>
              <a:gdLst/>
              <a:ahLst/>
              <a:cxnLst/>
              <a:rect l="l" t="t" r="r" b="b"/>
              <a:pathLst>
                <a:path w="10" h="190">
                  <a:moveTo>
                    <a:pt x="0" y="190"/>
                  </a:moveTo>
                  <a:lnTo>
                    <a:pt x="10" y="19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90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Freeform 85"/>
            <p:cNvSpPr/>
            <p:nvPr/>
          </p:nvSpPr>
          <p:spPr>
            <a:xfrm>
              <a:off x="29018018" y="7080673"/>
              <a:ext cx="334786" cy="6695722"/>
            </a:xfrm>
            <a:custGeom>
              <a:avLst/>
              <a:gdLst/>
              <a:ahLst/>
              <a:cxnLst/>
              <a:rect l="l" t="t" r="r" b="b"/>
              <a:pathLst>
                <a:path w="10" h="200">
                  <a:moveTo>
                    <a:pt x="0" y="200"/>
                  </a:moveTo>
                  <a:lnTo>
                    <a:pt x="10" y="20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00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Freeform 86"/>
            <p:cNvSpPr/>
            <p:nvPr/>
          </p:nvSpPr>
          <p:spPr>
            <a:xfrm>
              <a:off x="29352804" y="8185468"/>
              <a:ext cx="334786" cy="5590928"/>
            </a:xfrm>
            <a:custGeom>
              <a:avLst/>
              <a:gdLst/>
              <a:ahLst/>
              <a:cxnLst/>
              <a:rect l="l" t="t" r="r" b="b"/>
              <a:pathLst>
                <a:path w="10" h="167">
                  <a:moveTo>
                    <a:pt x="0" y="167"/>
                  </a:moveTo>
                  <a:lnTo>
                    <a:pt x="10" y="16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Freeform 87"/>
            <p:cNvSpPr/>
            <p:nvPr/>
          </p:nvSpPr>
          <p:spPr>
            <a:xfrm>
              <a:off x="29687591" y="7683288"/>
              <a:ext cx="334786" cy="6093107"/>
            </a:xfrm>
            <a:custGeom>
              <a:avLst/>
              <a:gdLst/>
              <a:ahLst/>
              <a:cxnLst/>
              <a:rect l="l" t="t" r="r" b="b"/>
              <a:pathLst>
                <a:path w="10" h="182">
                  <a:moveTo>
                    <a:pt x="0" y="182"/>
                  </a:moveTo>
                  <a:lnTo>
                    <a:pt x="10" y="18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82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Freeform 88"/>
            <p:cNvSpPr/>
            <p:nvPr/>
          </p:nvSpPr>
          <p:spPr>
            <a:xfrm>
              <a:off x="30022377" y="8185468"/>
              <a:ext cx="334786" cy="5590928"/>
            </a:xfrm>
            <a:custGeom>
              <a:avLst/>
              <a:gdLst/>
              <a:ahLst/>
              <a:cxnLst/>
              <a:rect l="l" t="t" r="r" b="b"/>
              <a:pathLst>
                <a:path w="10" h="167">
                  <a:moveTo>
                    <a:pt x="0" y="167"/>
                  </a:moveTo>
                  <a:lnTo>
                    <a:pt x="10" y="16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Freeform 89"/>
            <p:cNvSpPr/>
            <p:nvPr/>
          </p:nvSpPr>
          <p:spPr>
            <a:xfrm>
              <a:off x="30357163" y="7850681"/>
              <a:ext cx="334786" cy="5925714"/>
            </a:xfrm>
            <a:custGeom>
              <a:avLst/>
              <a:gdLst/>
              <a:ahLst/>
              <a:cxnLst/>
              <a:rect l="l" t="t" r="r" b="b"/>
              <a:pathLst>
                <a:path w="10" h="177">
                  <a:moveTo>
                    <a:pt x="0" y="177"/>
                  </a:moveTo>
                  <a:lnTo>
                    <a:pt x="10" y="17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77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Freeform 90"/>
            <p:cNvSpPr/>
            <p:nvPr/>
          </p:nvSpPr>
          <p:spPr>
            <a:xfrm>
              <a:off x="30691949" y="8185468"/>
              <a:ext cx="334786" cy="5590928"/>
            </a:xfrm>
            <a:custGeom>
              <a:avLst/>
              <a:gdLst/>
              <a:ahLst/>
              <a:cxnLst/>
              <a:rect l="l" t="t" r="r" b="b"/>
              <a:pathLst>
                <a:path w="10" h="167">
                  <a:moveTo>
                    <a:pt x="0" y="167"/>
                  </a:moveTo>
                  <a:lnTo>
                    <a:pt x="10" y="16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Freeform 91"/>
            <p:cNvSpPr/>
            <p:nvPr/>
          </p:nvSpPr>
          <p:spPr>
            <a:xfrm>
              <a:off x="31026735" y="8553732"/>
              <a:ext cx="334786" cy="5222663"/>
            </a:xfrm>
            <a:custGeom>
              <a:avLst/>
              <a:gdLst/>
              <a:ahLst/>
              <a:cxnLst/>
              <a:rect l="l" t="t" r="r" b="b"/>
              <a:pathLst>
                <a:path w="10" h="156">
                  <a:moveTo>
                    <a:pt x="0" y="156"/>
                  </a:moveTo>
                  <a:lnTo>
                    <a:pt x="10" y="156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56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Freeform 92"/>
            <p:cNvSpPr/>
            <p:nvPr/>
          </p:nvSpPr>
          <p:spPr>
            <a:xfrm>
              <a:off x="31361521" y="8486775"/>
              <a:ext cx="334786" cy="5289621"/>
            </a:xfrm>
            <a:custGeom>
              <a:avLst/>
              <a:gdLst/>
              <a:ahLst/>
              <a:cxnLst/>
              <a:rect l="l" t="t" r="r" b="b"/>
              <a:pathLst>
                <a:path w="10" h="158">
                  <a:moveTo>
                    <a:pt x="0" y="158"/>
                  </a:moveTo>
                  <a:lnTo>
                    <a:pt x="10" y="158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58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31696307" y="8486775"/>
              <a:ext cx="334786" cy="5289621"/>
            </a:xfrm>
            <a:custGeom>
              <a:avLst/>
              <a:gdLst/>
              <a:ahLst/>
              <a:cxnLst/>
              <a:rect l="l" t="t" r="r" b="b"/>
              <a:pathLst>
                <a:path w="10" h="158">
                  <a:moveTo>
                    <a:pt x="0" y="158"/>
                  </a:moveTo>
                  <a:lnTo>
                    <a:pt x="10" y="158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58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32031093" y="10763321"/>
              <a:ext cx="334786" cy="3013075"/>
            </a:xfrm>
            <a:custGeom>
              <a:avLst/>
              <a:gdLst/>
              <a:ahLst/>
              <a:cxnLst/>
              <a:rect l="l" t="t" r="r" b="b"/>
              <a:pathLst>
                <a:path w="10" h="90">
                  <a:moveTo>
                    <a:pt x="0" y="90"/>
                  </a:moveTo>
                  <a:lnTo>
                    <a:pt x="10" y="9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Freeform 95"/>
            <p:cNvSpPr/>
            <p:nvPr/>
          </p:nvSpPr>
          <p:spPr>
            <a:xfrm>
              <a:off x="32365879" y="11968551"/>
              <a:ext cx="334786" cy="1807845"/>
            </a:xfrm>
            <a:custGeom>
              <a:avLst/>
              <a:gdLst/>
              <a:ahLst/>
              <a:cxnLst/>
              <a:rect l="l" t="t" r="r" b="b"/>
              <a:pathLst>
                <a:path w="10" h="54">
                  <a:moveTo>
                    <a:pt x="0" y="54"/>
                  </a:moveTo>
                  <a:lnTo>
                    <a:pt x="10" y="54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Freeform 96"/>
            <p:cNvSpPr/>
            <p:nvPr/>
          </p:nvSpPr>
          <p:spPr>
            <a:xfrm>
              <a:off x="32700666" y="12772037"/>
              <a:ext cx="301308" cy="1004358"/>
            </a:xfrm>
            <a:custGeom>
              <a:avLst/>
              <a:gdLst/>
              <a:ahLst/>
              <a:cxnLst/>
              <a:rect l="l" t="t" r="r" b="b"/>
              <a:pathLst>
                <a:path w="9" h="30">
                  <a:moveTo>
                    <a:pt x="0" y="30"/>
                  </a:moveTo>
                  <a:lnTo>
                    <a:pt x="9" y="30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Freeform 97"/>
            <p:cNvSpPr/>
            <p:nvPr/>
          </p:nvSpPr>
          <p:spPr>
            <a:xfrm>
              <a:off x="22790997" y="137763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22011818" y="14041115"/>
              <a:ext cx="1542288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0.00</a:t>
              </a:r>
            </a:p>
          </p:txBody>
        </p:sp>
        <p:sp>
          <p:nvSpPr>
            <p:cNvPr id="100" name="Freeform 99"/>
            <p:cNvSpPr/>
            <p:nvPr/>
          </p:nvSpPr>
          <p:spPr>
            <a:xfrm>
              <a:off x="25368850" y="137763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24597036" y="14041115"/>
              <a:ext cx="1542288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0.25</a:t>
              </a:r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27946703" y="137763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27182255" y="14041115"/>
              <a:ext cx="1542288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0.50</a:t>
              </a:r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30524556" y="137763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9767473" y="14041115"/>
              <a:ext cx="1542288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0.75</a:t>
              </a:r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33135887" y="137763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32352691" y="14041115"/>
              <a:ext cx="1542288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1.00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7206639" y="14812225"/>
              <a:ext cx="1493520" cy="9753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000" i="1" b="0">
                  <a:solidFill>
                    <a:srgbClr val="000000"/>
                  </a:solidFill>
                  <a:latin typeface="Calibri"/>
                </a:rPr>
                <a:t>QED</a:t>
              </a:r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22790997" y="13776396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22556646" y="13776396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21258142" y="13429693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0.0</a:t>
              </a:r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22790997" y="11232021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22556646" y="11232021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1258142" y="10894631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0.5</a:t>
              </a:r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22790997" y="8687647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22556646" y="8687647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1258142" y="8359569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1.0</a:t>
              </a:r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22790997" y="6176751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22556646" y="6176751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21258142" y="5824507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1.5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0712010" y="7811414"/>
              <a:ext cx="975360" cy="3230880"/>
            </a:xfrm>
            <a:prstGeom prst="rect">
              <a:avLst/>
            </a:prstGeom>
            <a:noFill/>
          </p:spPr>
          <p:txBody>
            <a:bodyPr wrap="none" lIns="0" rIns="0" tIns="0" bIns="0" anchor="ctr" vert="vert27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000" i="1" b="0">
                  <a:solidFill>
                    <a:srgbClr val="000000"/>
                  </a:solidFill>
                  <a:latin typeface="Calibri"/>
                </a:rPr>
                <a:t>Density</a:t>
              </a:r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27980181" y="5071957"/>
              <a:ext cx="0" cy="8704439"/>
            </a:xfrm>
            <a:custGeom>
              <a:avLst/>
              <a:gdLst/>
              <a:ahLst/>
              <a:cxnLst/>
              <a:rect l="l" t="t" r="r" b="b"/>
              <a:pathLst>
                <a:path w="0" h="260">
                  <a:moveTo>
                    <a:pt x="0" y="260"/>
                  </a:moveTo>
                  <a:lnTo>
                    <a:pt x="0" y="0"/>
                  </a:lnTo>
                </a:path>
              </a:pathLst>
            </a:custGeom>
            <a:noFill/>
            <a:ln w="133914">
              <a:solidFill>
                <a:srgbClr val="4CAF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28114096" y="5071957"/>
              <a:ext cx="0" cy="8704439"/>
            </a:xfrm>
            <a:custGeom>
              <a:avLst/>
              <a:gdLst/>
              <a:ahLst/>
              <a:cxnLst/>
              <a:rect l="l" t="t" r="r" b="b"/>
              <a:pathLst>
                <a:path w="0" h="260">
                  <a:moveTo>
                    <a:pt x="0" y="260"/>
                  </a:moveTo>
                  <a:lnTo>
                    <a:pt x="0" y="0"/>
                  </a:lnTo>
                </a:path>
              </a:pathLst>
            </a:custGeom>
            <a:noFill/>
            <a:ln w="133914">
              <a:solidFill>
                <a:srgbClr val="F4433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22790997" y="5071957"/>
              <a:ext cx="0" cy="8704439"/>
            </a:xfrm>
            <a:custGeom>
              <a:avLst/>
              <a:gdLst/>
              <a:ahLst/>
              <a:cxnLst/>
              <a:rect l="l" t="t" r="r" b="b"/>
              <a:pathLst>
                <a:path w="0" h="260">
                  <a:moveTo>
                    <a:pt x="0" y="26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22790997" y="13776396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26085827" y="5271607"/>
              <a:ext cx="1542288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4CAF50"/>
                  </a:solidFill>
                  <a:latin typeface="Calibri"/>
                </a:rPr>
                <a:t>0.50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8481166" y="6226150"/>
              <a:ext cx="1542288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F44336"/>
                  </a:solidFill>
                  <a:latin typeface="Calibri"/>
                </a:rPr>
                <a:t>0.52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8134965" y="3292820"/>
              <a:ext cx="10694416" cy="1235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7600" i="1" b="1">
                  <a:solidFill>
                    <a:srgbClr val="000000"/>
                  </a:solidFill>
                  <a:latin typeface="Calibri"/>
                </a:rPr>
                <a:t>b. QED distribution</a:t>
              </a:r>
            </a:p>
          </p:txBody>
        </p:sp>
      </p:grpSp>
      <p:grpSp>
        <p:nvGrpSpPr>
          <p:cNvPr id="191" name="Editable SVG panel 03: panel-03"/>
          <p:cNvGrpSpPr/>
          <p:nvPr/>
        </p:nvGrpSpPr>
        <p:grpSpPr>
          <a:xfrm>
            <a:off x="33709610" y="3063240"/>
            <a:ext cx="15667990" cy="14462760"/>
            <a:chOff x="33709610" y="3063240"/>
            <a:chExt cx="15667990" cy="14462760"/>
          </a:xfrm>
        </p:grpSpPr>
        <p:sp>
          <p:nvSpPr>
            <p:cNvPr id="130" name="Panel layout anchor: panel-03"/>
            <p:cNvSpPr/>
            <p:nvPr/>
          </p:nvSpPr>
          <p:spPr>
            <a:xfrm>
              <a:off x="33709610" y="3063240"/>
              <a:ext cx="15667989" cy="1446275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Common axes anchor: panel-03"/>
            <p:cNvSpPr/>
            <p:nvPr/>
          </p:nvSpPr>
          <p:spPr>
            <a:xfrm>
              <a:off x="38723367" y="5088026"/>
              <a:ext cx="10340873" cy="86776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Freeform 131"/>
            <p:cNvSpPr/>
            <p:nvPr/>
          </p:nvSpPr>
          <p:spPr>
            <a:xfrm>
              <a:off x="33709610" y="3063240"/>
              <a:ext cx="15667990" cy="14462760"/>
            </a:xfrm>
            <a:custGeom>
              <a:avLst/>
              <a:gdLst/>
              <a:ahLst/>
              <a:cxnLst/>
              <a:rect l="l" t="t" r="r" b="b"/>
              <a:pathLst>
                <a:path w="468" h="432">
                  <a:moveTo>
                    <a:pt x="0" y="432"/>
                  </a:moveTo>
                  <a:lnTo>
                    <a:pt x="468" y="432"/>
                  </a:lnTo>
                  <a:lnTo>
                    <a:pt x="468" y="0"/>
                  </a:lnTo>
                  <a:lnTo>
                    <a:pt x="0" y="0"/>
                  </a:lnTo>
                  <a:lnTo>
                    <a:pt x="0" y="432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Freeform 132"/>
            <p:cNvSpPr/>
            <p:nvPr/>
          </p:nvSpPr>
          <p:spPr>
            <a:xfrm>
              <a:off x="38731402" y="5071957"/>
              <a:ext cx="10344891" cy="8704439"/>
            </a:xfrm>
            <a:custGeom>
              <a:avLst/>
              <a:gdLst/>
              <a:ahLst/>
              <a:cxnLst/>
              <a:rect l="l" t="t" r="r" b="b"/>
              <a:pathLst>
                <a:path w="309" h="260">
                  <a:moveTo>
                    <a:pt x="0" y="260"/>
                  </a:moveTo>
                  <a:lnTo>
                    <a:pt x="309" y="260"/>
                  </a:lnTo>
                  <a:lnTo>
                    <a:pt x="309" y="0"/>
                  </a:lnTo>
                  <a:lnTo>
                    <a:pt x="0" y="0"/>
                  </a:lnTo>
                  <a:lnTo>
                    <a:pt x="0" y="26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Freeform 133"/>
            <p:cNvSpPr/>
            <p:nvPr/>
          </p:nvSpPr>
          <p:spPr>
            <a:xfrm>
              <a:off x="39133145" y="13006388"/>
              <a:ext cx="334786" cy="770008"/>
            </a:xfrm>
            <a:custGeom>
              <a:avLst/>
              <a:gdLst/>
              <a:ahLst/>
              <a:cxnLst/>
              <a:rect l="l" t="t" r="r" b="b"/>
              <a:pathLst>
                <a:path w="10" h="23">
                  <a:moveTo>
                    <a:pt x="0" y="23"/>
                  </a:moveTo>
                  <a:lnTo>
                    <a:pt x="10" y="23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39467931" y="12068986"/>
              <a:ext cx="301308" cy="1707409"/>
            </a:xfrm>
            <a:custGeom>
              <a:avLst/>
              <a:gdLst/>
              <a:ahLst/>
              <a:cxnLst/>
              <a:rect l="l" t="t" r="r" b="b"/>
              <a:pathLst>
                <a:path w="9" h="51">
                  <a:moveTo>
                    <a:pt x="0" y="51"/>
                  </a:moveTo>
                  <a:lnTo>
                    <a:pt x="9" y="51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39769239" y="10495492"/>
              <a:ext cx="334786" cy="3280904"/>
            </a:xfrm>
            <a:custGeom>
              <a:avLst/>
              <a:gdLst/>
              <a:ahLst/>
              <a:cxnLst/>
              <a:rect l="l" t="t" r="r" b="b"/>
              <a:pathLst>
                <a:path w="10" h="98">
                  <a:moveTo>
                    <a:pt x="0" y="98"/>
                  </a:moveTo>
                  <a:lnTo>
                    <a:pt x="10" y="98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Freeform 136"/>
            <p:cNvSpPr/>
            <p:nvPr/>
          </p:nvSpPr>
          <p:spPr>
            <a:xfrm>
              <a:off x="40104025" y="8855040"/>
              <a:ext cx="334786" cy="4921356"/>
            </a:xfrm>
            <a:custGeom>
              <a:avLst/>
              <a:gdLst/>
              <a:ahLst/>
              <a:cxnLst/>
              <a:rect l="l" t="t" r="r" b="b"/>
              <a:pathLst>
                <a:path w="10" h="147">
                  <a:moveTo>
                    <a:pt x="0" y="147"/>
                  </a:moveTo>
                  <a:lnTo>
                    <a:pt x="10" y="14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47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Freeform 137"/>
            <p:cNvSpPr/>
            <p:nvPr/>
          </p:nvSpPr>
          <p:spPr>
            <a:xfrm>
              <a:off x="40438811" y="7582852"/>
              <a:ext cx="301308" cy="6193543"/>
            </a:xfrm>
            <a:custGeom>
              <a:avLst/>
              <a:gdLst/>
              <a:ahLst/>
              <a:cxnLst/>
              <a:rect l="l" t="t" r="r" b="b"/>
              <a:pathLst>
                <a:path w="9" h="185">
                  <a:moveTo>
                    <a:pt x="0" y="185"/>
                  </a:moveTo>
                  <a:lnTo>
                    <a:pt x="9" y="185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185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Freeform 138"/>
            <p:cNvSpPr/>
            <p:nvPr/>
          </p:nvSpPr>
          <p:spPr>
            <a:xfrm>
              <a:off x="40740118" y="6879802"/>
              <a:ext cx="334786" cy="6896594"/>
            </a:xfrm>
            <a:custGeom>
              <a:avLst/>
              <a:gdLst/>
              <a:ahLst/>
              <a:cxnLst/>
              <a:rect l="l" t="t" r="r" b="b"/>
              <a:pathLst>
                <a:path w="10" h="206">
                  <a:moveTo>
                    <a:pt x="0" y="206"/>
                  </a:moveTo>
                  <a:lnTo>
                    <a:pt x="10" y="206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06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Freeform 139"/>
            <p:cNvSpPr/>
            <p:nvPr/>
          </p:nvSpPr>
          <p:spPr>
            <a:xfrm>
              <a:off x="41074904" y="6109794"/>
              <a:ext cx="334786" cy="7666602"/>
            </a:xfrm>
            <a:custGeom>
              <a:avLst/>
              <a:gdLst/>
              <a:ahLst/>
              <a:cxnLst/>
              <a:rect l="l" t="t" r="r" b="b"/>
              <a:pathLst>
                <a:path w="10" h="229">
                  <a:moveTo>
                    <a:pt x="0" y="229"/>
                  </a:moveTo>
                  <a:lnTo>
                    <a:pt x="10" y="22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29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Freeform 140"/>
            <p:cNvSpPr/>
            <p:nvPr/>
          </p:nvSpPr>
          <p:spPr>
            <a:xfrm>
              <a:off x="41409691" y="6478058"/>
              <a:ext cx="301308" cy="7298337"/>
            </a:xfrm>
            <a:custGeom>
              <a:avLst/>
              <a:gdLst/>
              <a:ahLst/>
              <a:cxnLst/>
              <a:rect l="l" t="t" r="r" b="b"/>
              <a:pathLst>
                <a:path w="9" h="218">
                  <a:moveTo>
                    <a:pt x="0" y="218"/>
                  </a:moveTo>
                  <a:lnTo>
                    <a:pt x="9" y="218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Freeform 141"/>
            <p:cNvSpPr/>
            <p:nvPr/>
          </p:nvSpPr>
          <p:spPr>
            <a:xfrm>
              <a:off x="41710998" y="5908922"/>
              <a:ext cx="334786" cy="7867474"/>
            </a:xfrm>
            <a:custGeom>
              <a:avLst/>
              <a:gdLst/>
              <a:ahLst/>
              <a:cxnLst/>
              <a:rect l="l" t="t" r="r" b="b"/>
              <a:pathLst>
                <a:path w="10" h="235">
                  <a:moveTo>
                    <a:pt x="0" y="235"/>
                  </a:moveTo>
                  <a:lnTo>
                    <a:pt x="10" y="235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35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Freeform 142"/>
            <p:cNvSpPr/>
            <p:nvPr/>
          </p:nvSpPr>
          <p:spPr>
            <a:xfrm>
              <a:off x="42045784" y="7181109"/>
              <a:ext cx="334786" cy="6595286"/>
            </a:xfrm>
            <a:custGeom>
              <a:avLst/>
              <a:gdLst/>
              <a:ahLst/>
              <a:cxnLst/>
              <a:rect l="l" t="t" r="r" b="b"/>
              <a:pathLst>
                <a:path w="10" h="197">
                  <a:moveTo>
                    <a:pt x="0" y="197"/>
                  </a:moveTo>
                  <a:lnTo>
                    <a:pt x="10" y="19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97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Freeform 143"/>
            <p:cNvSpPr/>
            <p:nvPr/>
          </p:nvSpPr>
          <p:spPr>
            <a:xfrm>
              <a:off x="42380570" y="5975879"/>
              <a:ext cx="301308" cy="7800516"/>
            </a:xfrm>
            <a:custGeom>
              <a:avLst/>
              <a:gdLst/>
              <a:ahLst/>
              <a:cxnLst/>
              <a:rect l="l" t="t" r="r" b="b"/>
              <a:pathLst>
                <a:path w="9" h="233">
                  <a:moveTo>
                    <a:pt x="0" y="233"/>
                  </a:moveTo>
                  <a:lnTo>
                    <a:pt x="9" y="233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233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Freeform 144"/>
            <p:cNvSpPr/>
            <p:nvPr/>
          </p:nvSpPr>
          <p:spPr>
            <a:xfrm>
              <a:off x="42681878" y="5507179"/>
              <a:ext cx="334786" cy="8269217"/>
            </a:xfrm>
            <a:custGeom>
              <a:avLst/>
              <a:gdLst/>
              <a:ahLst/>
              <a:cxnLst/>
              <a:rect l="l" t="t" r="r" b="b"/>
              <a:pathLst>
                <a:path w="10" h="247">
                  <a:moveTo>
                    <a:pt x="0" y="247"/>
                  </a:moveTo>
                  <a:lnTo>
                    <a:pt x="10" y="24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47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Freeform 145"/>
            <p:cNvSpPr/>
            <p:nvPr/>
          </p:nvSpPr>
          <p:spPr>
            <a:xfrm>
              <a:off x="43016664" y="6344144"/>
              <a:ext cx="301308" cy="7432252"/>
            </a:xfrm>
            <a:custGeom>
              <a:avLst/>
              <a:gdLst/>
              <a:ahLst/>
              <a:cxnLst/>
              <a:rect l="l" t="t" r="r" b="b"/>
              <a:pathLst>
                <a:path w="9" h="222">
                  <a:moveTo>
                    <a:pt x="0" y="222"/>
                  </a:moveTo>
                  <a:lnTo>
                    <a:pt x="9" y="22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Freeform 146"/>
            <p:cNvSpPr/>
            <p:nvPr/>
          </p:nvSpPr>
          <p:spPr>
            <a:xfrm>
              <a:off x="43317971" y="5775008"/>
              <a:ext cx="334786" cy="8001388"/>
            </a:xfrm>
            <a:custGeom>
              <a:avLst/>
              <a:gdLst/>
              <a:ahLst/>
              <a:cxnLst/>
              <a:rect l="l" t="t" r="r" b="b"/>
              <a:pathLst>
                <a:path w="10" h="239">
                  <a:moveTo>
                    <a:pt x="0" y="239"/>
                  </a:moveTo>
                  <a:lnTo>
                    <a:pt x="10" y="23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Freeform 147"/>
            <p:cNvSpPr/>
            <p:nvPr/>
          </p:nvSpPr>
          <p:spPr>
            <a:xfrm>
              <a:off x="43652758" y="6377622"/>
              <a:ext cx="334786" cy="7398773"/>
            </a:xfrm>
            <a:custGeom>
              <a:avLst/>
              <a:gdLst/>
              <a:ahLst/>
              <a:cxnLst/>
              <a:rect l="l" t="t" r="r" b="b"/>
              <a:pathLst>
                <a:path w="10" h="221">
                  <a:moveTo>
                    <a:pt x="0" y="221"/>
                  </a:moveTo>
                  <a:lnTo>
                    <a:pt x="10" y="221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Freeform 148"/>
            <p:cNvSpPr/>
            <p:nvPr/>
          </p:nvSpPr>
          <p:spPr>
            <a:xfrm>
              <a:off x="43987544" y="7013716"/>
              <a:ext cx="301308" cy="6762679"/>
            </a:xfrm>
            <a:custGeom>
              <a:avLst/>
              <a:gdLst/>
              <a:ahLst/>
              <a:cxnLst/>
              <a:rect l="l" t="t" r="r" b="b"/>
              <a:pathLst>
                <a:path w="9" h="202">
                  <a:moveTo>
                    <a:pt x="0" y="202"/>
                  </a:moveTo>
                  <a:lnTo>
                    <a:pt x="9" y="20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202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Freeform 149"/>
            <p:cNvSpPr/>
            <p:nvPr/>
          </p:nvSpPr>
          <p:spPr>
            <a:xfrm>
              <a:off x="44288851" y="7315024"/>
              <a:ext cx="334786" cy="6461372"/>
            </a:xfrm>
            <a:custGeom>
              <a:avLst/>
              <a:gdLst/>
              <a:ahLst/>
              <a:cxnLst/>
              <a:rect l="l" t="t" r="r" b="b"/>
              <a:pathLst>
                <a:path w="10" h="193">
                  <a:moveTo>
                    <a:pt x="0" y="193"/>
                  </a:moveTo>
                  <a:lnTo>
                    <a:pt x="10" y="193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93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Freeform 150"/>
            <p:cNvSpPr/>
            <p:nvPr/>
          </p:nvSpPr>
          <p:spPr>
            <a:xfrm>
              <a:off x="44623637" y="9189826"/>
              <a:ext cx="334786" cy="4586570"/>
            </a:xfrm>
            <a:custGeom>
              <a:avLst/>
              <a:gdLst/>
              <a:ahLst/>
              <a:cxnLst/>
              <a:rect l="l" t="t" r="r" b="b"/>
              <a:pathLst>
                <a:path w="10" h="137">
                  <a:moveTo>
                    <a:pt x="0" y="137"/>
                  </a:moveTo>
                  <a:lnTo>
                    <a:pt x="10" y="13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Freeform 151"/>
            <p:cNvSpPr/>
            <p:nvPr/>
          </p:nvSpPr>
          <p:spPr>
            <a:xfrm>
              <a:off x="44958423" y="10729842"/>
              <a:ext cx="301308" cy="3046554"/>
            </a:xfrm>
            <a:custGeom>
              <a:avLst/>
              <a:gdLst/>
              <a:ahLst/>
              <a:cxnLst/>
              <a:rect l="l" t="t" r="r" b="b"/>
              <a:pathLst>
                <a:path w="9" h="91">
                  <a:moveTo>
                    <a:pt x="0" y="91"/>
                  </a:moveTo>
                  <a:lnTo>
                    <a:pt x="9" y="91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Freeform 152"/>
            <p:cNvSpPr/>
            <p:nvPr/>
          </p:nvSpPr>
          <p:spPr>
            <a:xfrm>
              <a:off x="45259731" y="10997671"/>
              <a:ext cx="334786" cy="2778725"/>
            </a:xfrm>
            <a:custGeom>
              <a:avLst/>
              <a:gdLst/>
              <a:ahLst/>
              <a:cxnLst/>
              <a:rect l="l" t="t" r="r" b="b"/>
              <a:pathLst>
                <a:path w="10" h="83">
                  <a:moveTo>
                    <a:pt x="0" y="83"/>
                  </a:moveTo>
                  <a:lnTo>
                    <a:pt x="10" y="83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Freeform 153"/>
            <p:cNvSpPr/>
            <p:nvPr/>
          </p:nvSpPr>
          <p:spPr>
            <a:xfrm>
              <a:off x="45594517" y="12437251"/>
              <a:ext cx="334786" cy="1339144"/>
            </a:xfrm>
            <a:custGeom>
              <a:avLst/>
              <a:gdLst/>
              <a:ahLst/>
              <a:cxnLst/>
              <a:rect l="l" t="t" r="r" b="b"/>
              <a:pathLst>
                <a:path w="10" h="40">
                  <a:moveTo>
                    <a:pt x="0" y="40"/>
                  </a:moveTo>
                  <a:lnTo>
                    <a:pt x="10" y="4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Freeform 154"/>
            <p:cNvSpPr/>
            <p:nvPr/>
          </p:nvSpPr>
          <p:spPr>
            <a:xfrm>
              <a:off x="45929303" y="12705080"/>
              <a:ext cx="301308" cy="1071316"/>
            </a:xfrm>
            <a:custGeom>
              <a:avLst/>
              <a:gdLst/>
              <a:ahLst/>
              <a:cxnLst/>
              <a:rect l="l" t="t" r="r" b="b"/>
              <a:pathLst>
                <a:path w="9" h="32">
                  <a:moveTo>
                    <a:pt x="0" y="32"/>
                  </a:moveTo>
                  <a:lnTo>
                    <a:pt x="9" y="3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Freeform 155"/>
            <p:cNvSpPr/>
            <p:nvPr/>
          </p:nvSpPr>
          <p:spPr>
            <a:xfrm>
              <a:off x="46230611" y="13140302"/>
              <a:ext cx="334786" cy="636094"/>
            </a:xfrm>
            <a:custGeom>
              <a:avLst/>
              <a:gdLst/>
              <a:ahLst/>
              <a:cxnLst/>
              <a:rect l="l" t="t" r="r" b="b"/>
              <a:pathLst>
                <a:path w="10" h="19">
                  <a:moveTo>
                    <a:pt x="0" y="19"/>
                  </a:moveTo>
                  <a:lnTo>
                    <a:pt x="10" y="1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Freeform 156"/>
            <p:cNvSpPr/>
            <p:nvPr/>
          </p:nvSpPr>
          <p:spPr>
            <a:xfrm>
              <a:off x="46565397" y="13341174"/>
              <a:ext cx="334786" cy="435222"/>
            </a:xfrm>
            <a:custGeom>
              <a:avLst/>
              <a:gdLst/>
              <a:ahLst/>
              <a:cxnLst/>
              <a:rect l="l" t="t" r="r" b="b"/>
              <a:pathLst>
                <a:path w="10" h="13">
                  <a:moveTo>
                    <a:pt x="0" y="13"/>
                  </a:moveTo>
                  <a:lnTo>
                    <a:pt x="10" y="13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Freeform 157"/>
            <p:cNvSpPr/>
            <p:nvPr/>
          </p:nvSpPr>
          <p:spPr>
            <a:xfrm>
              <a:off x="46900183" y="13575524"/>
              <a:ext cx="301308" cy="200872"/>
            </a:xfrm>
            <a:custGeom>
              <a:avLst/>
              <a:gdLst/>
              <a:ahLst/>
              <a:cxnLst/>
              <a:rect l="l" t="t" r="r" b="b"/>
              <a:pathLst>
                <a:path w="9" h="6">
                  <a:moveTo>
                    <a:pt x="0" y="6"/>
                  </a:move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Freeform 158"/>
            <p:cNvSpPr/>
            <p:nvPr/>
          </p:nvSpPr>
          <p:spPr>
            <a:xfrm>
              <a:off x="47201490" y="13642481"/>
              <a:ext cx="334786" cy="133914"/>
            </a:xfrm>
            <a:custGeom>
              <a:avLst/>
              <a:gdLst/>
              <a:ahLst/>
              <a:cxnLst/>
              <a:rect l="l" t="t" r="r" b="b"/>
              <a:pathLst>
                <a:path w="10" h="4">
                  <a:moveTo>
                    <a:pt x="0" y="4"/>
                  </a:moveTo>
                  <a:lnTo>
                    <a:pt x="10" y="4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86C980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Freeform 159"/>
            <p:cNvSpPr/>
            <p:nvPr/>
          </p:nvSpPr>
          <p:spPr>
            <a:xfrm>
              <a:off x="40304896" y="137763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39735150" y="14041115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20</a:t>
              </a:r>
            </a:p>
          </p:txBody>
        </p:sp>
        <p:sp>
          <p:nvSpPr>
            <p:cNvPr id="162" name="Freeform 161"/>
            <p:cNvSpPr/>
            <p:nvPr/>
          </p:nvSpPr>
          <p:spPr>
            <a:xfrm>
              <a:off x="41911870" y="137763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41326054" y="14041115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40</a:t>
              </a:r>
            </a:p>
          </p:txBody>
        </p:sp>
        <p:sp>
          <p:nvSpPr>
            <p:cNvPr id="164" name="Freeform 163"/>
            <p:cNvSpPr/>
            <p:nvPr/>
          </p:nvSpPr>
          <p:spPr>
            <a:xfrm>
              <a:off x="43485364" y="137763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42916958" y="14041115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60</a:t>
              </a:r>
            </a:p>
          </p:txBody>
        </p:sp>
        <p:sp>
          <p:nvSpPr>
            <p:cNvPr id="166" name="Freeform 165"/>
            <p:cNvSpPr/>
            <p:nvPr/>
          </p:nvSpPr>
          <p:spPr>
            <a:xfrm>
              <a:off x="45092338" y="137763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44507861" y="14041115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80</a:t>
              </a:r>
            </a:p>
          </p:txBody>
        </p:sp>
        <p:sp>
          <p:nvSpPr>
            <p:cNvPr id="168" name="Freeform 167"/>
            <p:cNvSpPr/>
            <p:nvPr/>
          </p:nvSpPr>
          <p:spPr>
            <a:xfrm>
              <a:off x="46665832" y="137763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46080477" y="14041115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100</a:t>
              </a:r>
            </a:p>
          </p:txBody>
        </p:sp>
        <p:sp>
          <p:nvSpPr>
            <p:cNvPr id="170" name="Freeform 169"/>
            <p:cNvSpPr/>
            <p:nvPr/>
          </p:nvSpPr>
          <p:spPr>
            <a:xfrm>
              <a:off x="48272806" y="137763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47671380" y="14041115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120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39455154" y="14812225"/>
              <a:ext cx="8877300" cy="9753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000" i="1" b="0">
                  <a:solidFill>
                    <a:srgbClr val="000000"/>
                  </a:solidFill>
                  <a:latin typeface="Calibri"/>
                </a:rPr>
                <a:t>Pocket residue count</a:t>
              </a:r>
            </a:p>
          </p:txBody>
        </p:sp>
        <p:sp>
          <p:nvSpPr>
            <p:cNvPr id="173" name="Freeform 172"/>
            <p:cNvSpPr/>
            <p:nvPr/>
          </p:nvSpPr>
          <p:spPr>
            <a:xfrm>
              <a:off x="38731402" y="13776396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Freeform 173"/>
            <p:cNvSpPr/>
            <p:nvPr/>
          </p:nvSpPr>
          <p:spPr>
            <a:xfrm>
              <a:off x="38497051" y="13776396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37235123" y="13429693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</a:t>
              </a:r>
            </a:p>
          </p:txBody>
        </p:sp>
        <p:sp>
          <p:nvSpPr>
            <p:cNvPr id="176" name="Freeform 175"/>
            <p:cNvSpPr/>
            <p:nvPr/>
          </p:nvSpPr>
          <p:spPr>
            <a:xfrm>
              <a:off x="38731402" y="10997671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Freeform 176"/>
            <p:cNvSpPr/>
            <p:nvPr/>
          </p:nvSpPr>
          <p:spPr>
            <a:xfrm>
              <a:off x="38497051" y="10997671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37198547" y="10647055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100</a:t>
              </a:r>
            </a:p>
          </p:txBody>
        </p:sp>
        <p:sp>
          <p:nvSpPr>
            <p:cNvPr id="179" name="Freeform 178"/>
            <p:cNvSpPr/>
            <p:nvPr/>
          </p:nvSpPr>
          <p:spPr>
            <a:xfrm>
              <a:off x="38731402" y="8185468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Freeform 179"/>
            <p:cNvSpPr/>
            <p:nvPr/>
          </p:nvSpPr>
          <p:spPr>
            <a:xfrm>
              <a:off x="38497051" y="8185468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37198547" y="7864417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200</a:t>
              </a:r>
            </a:p>
          </p:txBody>
        </p:sp>
        <p:sp>
          <p:nvSpPr>
            <p:cNvPr id="182" name="Freeform 181"/>
            <p:cNvSpPr/>
            <p:nvPr/>
          </p:nvSpPr>
          <p:spPr>
            <a:xfrm>
              <a:off x="38731402" y="5406743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Freeform 182"/>
            <p:cNvSpPr/>
            <p:nvPr/>
          </p:nvSpPr>
          <p:spPr>
            <a:xfrm>
              <a:off x="38497051" y="5406743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37198547" y="5081779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300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36470850" y="8245754"/>
              <a:ext cx="975360" cy="2362200"/>
            </a:xfrm>
            <a:prstGeom prst="rect">
              <a:avLst/>
            </a:prstGeom>
            <a:noFill/>
          </p:spPr>
          <p:txBody>
            <a:bodyPr wrap="none" lIns="0" rIns="0" tIns="0" bIns="0" anchor="ctr" vert="vert27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000" i="1" b="0">
                  <a:solidFill>
                    <a:srgbClr val="000000"/>
                  </a:solidFill>
                  <a:latin typeface="Calibri"/>
                </a:rPr>
                <a:t>Count</a:t>
              </a:r>
            </a:p>
          </p:txBody>
        </p:sp>
        <p:sp>
          <p:nvSpPr>
            <p:cNvPr id="186" name="Freeform 185"/>
            <p:cNvSpPr/>
            <p:nvPr/>
          </p:nvSpPr>
          <p:spPr>
            <a:xfrm>
              <a:off x="42614921" y="5071957"/>
              <a:ext cx="0" cy="8704439"/>
            </a:xfrm>
            <a:custGeom>
              <a:avLst/>
              <a:gdLst/>
              <a:ahLst/>
              <a:cxnLst/>
              <a:rect l="l" t="t" r="r" b="b"/>
              <a:pathLst>
                <a:path w="0" h="260">
                  <a:moveTo>
                    <a:pt x="0" y="260"/>
                  </a:moveTo>
                  <a:lnTo>
                    <a:pt x="0" y="0"/>
                  </a:lnTo>
                </a:path>
              </a:pathLst>
            </a:custGeom>
            <a:noFill/>
            <a:ln w="133914">
              <a:solidFill>
                <a:srgbClr val="F4433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Freeform 186"/>
            <p:cNvSpPr/>
            <p:nvPr/>
          </p:nvSpPr>
          <p:spPr>
            <a:xfrm>
              <a:off x="38731402" y="5071957"/>
              <a:ext cx="0" cy="8704439"/>
            </a:xfrm>
            <a:custGeom>
              <a:avLst/>
              <a:gdLst/>
              <a:ahLst/>
              <a:cxnLst/>
              <a:rect l="l" t="t" r="r" b="b"/>
              <a:pathLst>
                <a:path w="0" h="260">
                  <a:moveTo>
                    <a:pt x="0" y="26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Freeform 187"/>
            <p:cNvSpPr/>
            <p:nvPr/>
          </p:nvSpPr>
          <p:spPr>
            <a:xfrm>
              <a:off x="38731402" y="13776396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42944023" y="5271607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F44336"/>
                  </a:solidFill>
                  <a:latin typeface="Calibri"/>
                </a:rPr>
                <a:t>49</a:t>
              </a:r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34075370" y="3292820"/>
              <a:ext cx="10144252" cy="1235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7600" i="1" b="1">
                  <a:solidFill>
                    <a:srgbClr val="000000"/>
                  </a:solidFill>
                  <a:latin typeface="Calibri"/>
                </a:rPr>
                <a:t>c. Pocket residues</a:t>
              </a:r>
            </a:p>
          </p:txBody>
        </p:sp>
      </p:grpSp>
      <p:grpSp>
        <p:nvGrpSpPr>
          <p:cNvPr id="251" name="Editable SVG panel 04: panel-04"/>
          <p:cNvGrpSpPr/>
          <p:nvPr/>
        </p:nvGrpSpPr>
        <p:grpSpPr>
          <a:xfrm>
            <a:off x="1828800" y="17846040"/>
            <a:ext cx="15667990" cy="14462760"/>
            <a:chOff x="1828800" y="17846040"/>
            <a:chExt cx="15667990" cy="14462760"/>
          </a:xfrm>
        </p:grpSpPr>
        <p:sp>
          <p:nvSpPr>
            <p:cNvPr id="192" name="Panel layout anchor: panel-04"/>
            <p:cNvSpPr/>
            <p:nvPr/>
          </p:nvSpPr>
          <p:spPr>
            <a:xfrm>
              <a:off x="1828800" y="17846040"/>
              <a:ext cx="15667989" cy="1446275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Common axes anchor: panel-04"/>
            <p:cNvSpPr/>
            <p:nvPr/>
          </p:nvSpPr>
          <p:spPr>
            <a:xfrm>
              <a:off x="6842557" y="19870826"/>
              <a:ext cx="10340873" cy="86776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Freeform 193"/>
            <p:cNvSpPr/>
            <p:nvPr/>
          </p:nvSpPr>
          <p:spPr>
            <a:xfrm>
              <a:off x="1828800" y="17846040"/>
              <a:ext cx="15667990" cy="14462760"/>
            </a:xfrm>
            <a:custGeom>
              <a:avLst/>
              <a:gdLst/>
              <a:ahLst/>
              <a:cxnLst/>
              <a:rect l="l" t="t" r="r" b="b"/>
              <a:pathLst>
                <a:path w="468" h="432">
                  <a:moveTo>
                    <a:pt x="0" y="432"/>
                  </a:moveTo>
                  <a:lnTo>
                    <a:pt x="468" y="432"/>
                  </a:lnTo>
                  <a:lnTo>
                    <a:pt x="468" y="0"/>
                  </a:lnTo>
                  <a:lnTo>
                    <a:pt x="0" y="0"/>
                  </a:lnTo>
                  <a:lnTo>
                    <a:pt x="0" y="432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Freeform 194"/>
            <p:cNvSpPr/>
            <p:nvPr/>
          </p:nvSpPr>
          <p:spPr>
            <a:xfrm>
              <a:off x="6850592" y="19854757"/>
              <a:ext cx="10344891" cy="8704439"/>
            </a:xfrm>
            <a:custGeom>
              <a:avLst/>
              <a:gdLst/>
              <a:ahLst/>
              <a:cxnLst/>
              <a:rect l="l" t="t" r="r" b="b"/>
              <a:pathLst>
                <a:path w="309" h="260">
                  <a:moveTo>
                    <a:pt x="0" y="260"/>
                  </a:moveTo>
                  <a:lnTo>
                    <a:pt x="309" y="260"/>
                  </a:lnTo>
                  <a:lnTo>
                    <a:pt x="309" y="0"/>
                  </a:lnTo>
                  <a:lnTo>
                    <a:pt x="0" y="0"/>
                  </a:lnTo>
                  <a:lnTo>
                    <a:pt x="0" y="26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Freeform 195"/>
            <p:cNvSpPr/>
            <p:nvPr/>
          </p:nvSpPr>
          <p:spPr>
            <a:xfrm>
              <a:off x="7319292" y="22466088"/>
              <a:ext cx="334786" cy="6093107"/>
            </a:xfrm>
            <a:custGeom>
              <a:avLst/>
              <a:gdLst/>
              <a:ahLst/>
              <a:cxnLst/>
              <a:rect l="l" t="t" r="r" b="b"/>
              <a:pathLst>
                <a:path w="10" h="182">
                  <a:moveTo>
                    <a:pt x="0" y="182"/>
                  </a:moveTo>
                  <a:lnTo>
                    <a:pt x="10" y="18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82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Freeform 196"/>
            <p:cNvSpPr/>
            <p:nvPr/>
          </p:nvSpPr>
          <p:spPr>
            <a:xfrm>
              <a:off x="7654078" y="21562166"/>
              <a:ext cx="334786" cy="6997030"/>
            </a:xfrm>
            <a:custGeom>
              <a:avLst/>
              <a:gdLst/>
              <a:ahLst/>
              <a:cxnLst/>
              <a:rect l="l" t="t" r="r" b="b"/>
              <a:pathLst>
                <a:path w="10" h="209">
                  <a:moveTo>
                    <a:pt x="0" y="209"/>
                  </a:moveTo>
                  <a:lnTo>
                    <a:pt x="10" y="20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09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Freeform 197"/>
            <p:cNvSpPr/>
            <p:nvPr/>
          </p:nvSpPr>
          <p:spPr>
            <a:xfrm>
              <a:off x="7988864" y="21327816"/>
              <a:ext cx="334786" cy="7231380"/>
            </a:xfrm>
            <a:custGeom>
              <a:avLst/>
              <a:gdLst/>
              <a:ahLst/>
              <a:cxnLst/>
              <a:rect l="l" t="t" r="r" b="b"/>
              <a:pathLst>
                <a:path w="10" h="216">
                  <a:moveTo>
                    <a:pt x="0" y="216"/>
                  </a:moveTo>
                  <a:lnTo>
                    <a:pt x="10" y="216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16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Freeform 198"/>
            <p:cNvSpPr/>
            <p:nvPr/>
          </p:nvSpPr>
          <p:spPr>
            <a:xfrm>
              <a:off x="8323651" y="22231738"/>
              <a:ext cx="334786" cy="6327458"/>
            </a:xfrm>
            <a:custGeom>
              <a:avLst/>
              <a:gdLst/>
              <a:ahLst/>
              <a:cxnLst/>
              <a:rect l="l" t="t" r="r" b="b"/>
              <a:pathLst>
                <a:path w="10" h="189">
                  <a:moveTo>
                    <a:pt x="0" y="189"/>
                  </a:moveTo>
                  <a:lnTo>
                    <a:pt x="10" y="18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89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Freeform 199"/>
            <p:cNvSpPr/>
            <p:nvPr/>
          </p:nvSpPr>
          <p:spPr>
            <a:xfrm>
              <a:off x="8658437" y="22298695"/>
              <a:ext cx="334786" cy="6260500"/>
            </a:xfrm>
            <a:custGeom>
              <a:avLst/>
              <a:gdLst/>
              <a:ahLst/>
              <a:cxnLst/>
              <a:rect l="l" t="t" r="r" b="b"/>
              <a:pathLst>
                <a:path w="10" h="187">
                  <a:moveTo>
                    <a:pt x="0" y="187"/>
                  </a:moveTo>
                  <a:lnTo>
                    <a:pt x="10" y="18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Freeform 200"/>
            <p:cNvSpPr/>
            <p:nvPr/>
          </p:nvSpPr>
          <p:spPr>
            <a:xfrm>
              <a:off x="8993223" y="22767396"/>
              <a:ext cx="334786" cy="5791800"/>
            </a:xfrm>
            <a:custGeom>
              <a:avLst/>
              <a:gdLst/>
              <a:ahLst/>
              <a:cxnLst/>
              <a:rect l="l" t="t" r="r" b="b"/>
              <a:pathLst>
                <a:path w="10" h="173">
                  <a:moveTo>
                    <a:pt x="0" y="173"/>
                  </a:moveTo>
                  <a:lnTo>
                    <a:pt x="10" y="173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73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Freeform 201"/>
            <p:cNvSpPr/>
            <p:nvPr/>
          </p:nvSpPr>
          <p:spPr>
            <a:xfrm>
              <a:off x="9328009" y="21963909"/>
              <a:ext cx="334786" cy="6595286"/>
            </a:xfrm>
            <a:custGeom>
              <a:avLst/>
              <a:gdLst/>
              <a:ahLst/>
              <a:cxnLst/>
              <a:rect l="l" t="t" r="r" b="b"/>
              <a:pathLst>
                <a:path w="10" h="197">
                  <a:moveTo>
                    <a:pt x="0" y="197"/>
                  </a:moveTo>
                  <a:lnTo>
                    <a:pt x="10" y="19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97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Freeform 202"/>
            <p:cNvSpPr/>
            <p:nvPr/>
          </p:nvSpPr>
          <p:spPr>
            <a:xfrm>
              <a:off x="9662795" y="21026508"/>
              <a:ext cx="334786" cy="7532688"/>
            </a:xfrm>
            <a:custGeom>
              <a:avLst/>
              <a:gdLst/>
              <a:ahLst/>
              <a:cxnLst/>
              <a:rect l="l" t="t" r="r" b="b"/>
              <a:pathLst>
                <a:path w="10" h="225">
                  <a:moveTo>
                    <a:pt x="0" y="225"/>
                  </a:moveTo>
                  <a:lnTo>
                    <a:pt x="10" y="225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25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Freeform 203"/>
            <p:cNvSpPr/>
            <p:nvPr/>
          </p:nvSpPr>
          <p:spPr>
            <a:xfrm>
              <a:off x="9997581" y="20892594"/>
              <a:ext cx="334786" cy="7666602"/>
            </a:xfrm>
            <a:custGeom>
              <a:avLst/>
              <a:gdLst/>
              <a:ahLst/>
              <a:cxnLst/>
              <a:rect l="l" t="t" r="r" b="b"/>
              <a:pathLst>
                <a:path w="10" h="229">
                  <a:moveTo>
                    <a:pt x="0" y="229"/>
                  </a:moveTo>
                  <a:lnTo>
                    <a:pt x="10" y="22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29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Freeform 204"/>
            <p:cNvSpPr/>
            <p:nvPr/>
          </p:nvSpPr>
          <p:spPr>
            <a:xfrm>
              <a:off x="10332367" y="20624765"/>
              <a:ext cx="334786" cy="7934431"/>
            </a:xfrm>
            <a:custGeom>
              <a:avLst/>
              <a:gdLst/>
              <a:ahLst/>
              <a:cxnLst/>
              <a:rect l="l" t="t" r="r" b="b"/>
              <a:pathLst>
                <a:path w="10" h="237">
                  <a:moveTo>
                    <a:pt x="0" y="237"/>
                  </a:moveTo>
                  <a:lnTo>
                    <a:pt x="10" y="23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37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Freeform 205"/>
            <p:cNvSpPr/>
            <p:nvPr/>
          </p:nvSpPr>
          <p:spPr>
            <a:xfrm>
              <a:off x="10667153" y="20289979"/>
              <a:ext cx="334786" cy="8269217"/>
            </a:xfrm>
            <a:custGeom>
              <a:avLst/>
              <a:gdLst/>
              <a:ahLst/>
              <a:cxnLst/>
              <a:rect l="l" t="t" r="r" b="b"/>
              <a:pathLst>
                <a:path w="10" h="247">
                  <a:moveTo>
                    <a:pt x="0" y="247"/>
                  </a:moveTo>
                  <a:lnTo>
                    <a:pt x="10" y="24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47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Freeform 206"/>
            <p:cNvSpPr/>
            <p:nvPr/>
          </p:nvSpPr>
          <p:spPr>
            <a:xfrm>
              <a:off x="11001939" y="21093465"/>
              <a:ext cx="334786" cy="7465730"/>
            </a:xfrm>
            <a:custGeom>
              <a:avLst/>
              <a:gdLst/>
              <a:ahLst/>
              <a:cxnLst/>
              <a:rect l="l" t="t" r="r" b="b"/>
              <a:pathLst>
                <a:path w="10" h="223">
                  <a:moveTo>
                    <a:pt x="0" y="223"/>
                  </a:moveTo>
                  <a:lnTo>
                    <a:pt x="10" y="223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23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Freeform 207"/>
            <p:cNvSpPr/>
            <p:nvPr/>
          </p:nvSpPr>
          <p:spPr>
            <a:xfrm>
              <a:off x="11336726" y="21829995"/>
              <a:ext cx="334786" cy="6729201"/>
            </a:xfrm>
            <a:custGeom>
              <a:avLst/>
              <a:gdLst/>
              <a:ahLst/>
              <a:cxnLst/>
              <a:rect l="l" t="t" r="r" b="b"/>
              <a:pathLst>
                <a:path w="10" h="201">
                  <a:moveTo>
                    <a:pt x="0" y="201"/>
                  </a:moveTo>
                  <a:lnTo>
                    <a:pt x="10" y="201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01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Freeform 208"/>
            <p:cNvSpPr/>
            <p:nvPr/>
          </p:nvSpPr>
          <p:spPr>
            <a:xfrm>
              <a:off x="11671512" y="23135661"/>
              <a:ext cx="334786" cy="5423535"/>
            </a:xfrm>
            <a:custGeom>
              <a:avLst/>
              <a:gdLst/>
              <a:ahLst/>
              <a:cxnLst/>
              <a:rect l="l" t="t" r="r" b="b"/>
              <a:pathLst>
                <a:path w="10" h="162">
                  <a:moveTo>
                    <a:pt x="0" y="162"/>
                  </a:moveTo>
                  <a:lnTo>
                    <a:pt x="10" y="16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62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Freeform 209"/>
            <p:cNvSpPr/>
            <p:nvPr/>
          </p:nvSpPr>
          <p:spPr>
            <a:xfrm>
              <a:off x="12006298" y="23872190"/>
              <a:ext cx="334786" cy="4687006"/>
            </a:xfrm>
            <a:custGeom>
              <a:avLst/>
              <a:gdLst/>
              <a:ahLst/>
              <a:cxnLst/>
              <a:rect l="l" t="t" r="r" b="b"/>
              <a:pathLst>
                <a:path w="10" h="140">
                  <a:moveTo>
                    <a:pt x="0" y="140"/>
                  </a:moveTo>
                  <a:lnTo>
                    <a:pt x="10" y="14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40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Freeform 210"/>
            <p:cNvSpPr/>
            <p:nvPr/>
          </p:nvSpPr>
          <p:spPr>
            <a:xfrm>
              <a:off x="12341084" y="24809591"/>
              <a:ext cx="334786" cy="3749604"/>
            </a:xfrm>
            <a:custGeom>
              <a:avLst/>
              <a:gdLst/>
              <a:ahLst/>
              <a:cxnLst/>
              <a:rect l="l" t="t" r="r" b="b"/>
              <a:pathLst>
                <a:path w="10" h="112">
                  <a:moveTo>
                    <a:pt x="0" y="112"/>
                  </a:moveTo>
                  <a:lnTo>
                    <a:pt x="10" y="11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12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Freeform 211"/>
            <p:cNvSpPr/>
            <p:nvPr/>
          </p:nvSpPr>
          <p:spPr>
            <a:xfrm>
              <a:off x="12675870" y="26148736"/>
              <a:ext cx="334786" cy="2410460"/>
            </a:xfrm>
            <a:custGeom>
              <a:avLst/>
              <a:gdLst/>
              <a:ahLst/>
              <a:cxnLst/>
              <a:rect l="l" t="t" r="r" b="b"/>
              <a:pathLst>
                <a:path w="10" h="72">
                  <a:moveTo>
                    <a:pt x="0" y="72"/>
                  </a:moveTo>
                  <a:lnTo>
                    <a:pt x="10" y="7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Freeform 212"/>
            <p:cNvSpPr/>
            <p:nvPr/>
          </p:nvSpPr>
          <p:spPr>
            <a:xfrm>
              <a:off x="13010656" y="26918744"/>
              <a:ext cx="334786" cy="1640452"/>
            </a:xfrm>
            <a:custGeom>
              <a:avLst/>
              <a:gdLst/>
              <a:ahLst/>
              <a:cxnLst/>
              <a:rect l="l" t="t" r="r" b="b"/>
              <a:pathLst>
                <a:path w="10" h="49">
                  <a:moveTo>
                    <a:pt x="0" y="49"/>
                  </a:moveTo>
                  <a:lnTo>
                    <a:pt x="10" y="4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Freeform 213"/>
            <p:cNvSpPr/>
            <p:nvPr/>
          </p:nvSpPr>
          <p:spPr>
            <a:xfrm>
              <a:off x="13345442" y="27454401"/>
              <a:ext cx="334786" cy="1104794"/>
            </a:xfrm>
            <a:custGeom>
              <a:avLst/>
              <a:gdLst/>
              <a:ahLst/>
              <a:cxnLst/>
              <a:rect l="l" t="t" r="r" b="b"/>
              <a:pathLst>
                <a:path w="10" h="33">
                  <a:moveTo>
                    <a:pt x="0" y="33"/>
                  </a:moveTo>
                  <a:lnTo>
                    <a:pt x="10" y="33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Freeform 214"/>
            <p:cNvSpPr/>
            <p:nvPr/>
          </p:nvSpPr>
          <p:spPr>
            <a:xfrm>
              <a:off x="13680228" y="27655273"/>
              <a:ext cx="334786" cy="903922"/>
            </a:xfrm>
            <a:custGeom>
              <a:avLst/>
              <a:gdLst/>
              <a:ahLst/>
              <a:cxnLst/>
              <a:rect l="l" t="t" r="r" b="b"/>
              <a:pathLst>
                <a:path w="10" h="27">
                  <a:moveTo>
                    <a:pt x="0" y="27"/>
                  </a:moveTo>
                  <a:lnTo>
                    <a:pt x="10" y="2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Freeform 215"/>
            <p:cNvSpPr/>
            <p:nvPr/>
          </p:nvSpPr>
          <p:spPr>
            <a:xfrm>
              <a:off x="14015014" y="28224409"/>
              <a:ext cx="334786" cy="334786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0" y="10"/>
                  </a:moveTo>
                  <a:lnTo>
                    <a:pt x="10" y="1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Freeform 216"/>
            <p:cNvSpPr/>
            <p:nvPr/>
          </p:nvSpPr>
          <p:spPr>
            <a:xfrm>
              <a:off x="14349801" y="28458760"/>
              <a:ext cx="334786" cy="100436"/>
            </a:xfrm>
            <a:custGeom>
              <a:avLst/>
              <a:gdLst/>
              <a:ahLst/>
              <a:cxnLst/>
              <a:rect l="l" t="t" r="r" b="b"/>
              <a:pathLst>
                <a:path w="10" h="3">
                  <a:moveTo>
                    <a:pt x="0" y="3"/>
                  </a:moveTo>
                  <a:lnTo>
                    <a:pt x="10" y="3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Freeform 217"/>
            <p:cNvSpPr/>
            <p:nvPr/>
          </p:nvSpPr>
          <p:spPr>
            <a:xfrm>
              <a:off x="14684587" y="28458760"/>
              <a:ext cx="334786" cy="100436"/>
            </a:xfrm>
            <a:custGeom>
              <a:avLst/>
              <a:gdLst/>
              <a:ahLst/>
              <a:cxnLst/>
              <a:rect l="l" t="t" r="r" b="b"/>
              <a:pathLst>
                <a:path w="10" h="3">
                  <a:moveTo>
                    <a:pt x="0" y="3"/>
                  </a:moveTo>
                  <a:lnTo>
                    <a:pt x="10" y="3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Freeform 218"/>
            <p:cNvSpPr/>
            <p:nvPr/>
          </p:nvSpPr>
          <p:spPr>
            <a:xfrm>
              <a:off x="15019373" y="28492238"/>
              <a:ext cx="334786" cy="66957"/>
            </a:xfrm>
            <a:custGeom>
              <a:avLst/>
              <a:gdLst/>
              <a:ahLst/>
              <a:cxnLst/>
              <a:rect l="l" t="t" r="r" b="b"/>
              <a:pathLst>
                <a:path w="10" h="2">
                  <a:moveTo>
                    <a:pt x="0" y="2"/>
                  </a:moveTo>
                  <a:lnTo>
                    <a:pt x="10" y="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Freeform 219"/>
            <p:cNvSpPr/>
            <p:nvPr/>
          </p:nvSpPr>
          <p:spPr>
            <a:xfrm>
              <a:off x="15354159" y="28525717"/>
              <a:ext cx="368265" cy="33479"/>
            </a:xfrm>
            <a:custGeom>
              <a:avLst/>
              <a:gdLst/>
              <a:ahLst/>
              <a:cxnLst/>
              <a:rect l="l" t="t" r="r" b="b"/>
              <a:pathLst>
                <a:path w="11" h="1">
                  <a:moveTo>
                    <a:pt x="0" y="1"/>
                  </a:moveTo>
                  <a:lnTo>
                    <a:pt x="11" y="1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Freeform 220"/>
            <p:cNvSpPr/>
            <p:nvPr/>
          </p:nvSpPr>
          <p:spPr>
            <a:xfrm>
              <a:off x="15722424" y="28492238"/>
              <a:ext cx="334786" cy="66957"/>
            </a:xfrm>
            <a:custGeom>
              <a:avLst/>
              <a:gdLst/>
              <a:ahLst/>
              <a:cxnLst/>
              <a:rect l="l" t="t" r="r" b="b"/>
              <a:pathLst>
                <a:path w="10" h="2">
                  <a:moveTo>
                    <a:pt x="0" y="2"/>
                  </a:moveTo>
                  <a:lnTo>
                    <a:pt x="10" y="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Freeform 221"/>
            <p:cNvSpPr/>
            <p:nvPr/>
          </p:nvSpPr>
          <p:spPr>
            <a:xfrm>
              <a:off x="16057210" y="28559196"/>
              <a:ext cx="334786" cy="0"/>
            </a:xfrm>
            <a:custGeom>
              <a:avLst/>
              <a:gdLst/>
              <a:ahLst/>
              <a:cxnLst/>
              <a:rect l="l" t="t" r="r" b="b"/>
              <a:pathLst>
                <a:path w="10" h="0">
                  <a:moveTo>
                    <a:pt x="0" y="0"/>
                  </a:moveTo>
                  <a:lnTo>
                    <a:pt x="10" y="0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Freeform 222"/>
            <p:cNvSpPr/>
            <p:nvPr/>
          </p:nvSpPr>
          <p:spPr>
            <a:xfrm>
              <a:off x="16391996" y="28525717"/>
              <a:ext cx="334786" cy="33479"/>
            </a:xfrm>
            <a:custGeom>
              <a:avLst/>
              <a:gdLst/>
              <a:ahLst/>
              <a:cxnLst/>
              <a:rect l="l" t="t" r="r" b="b"/>
              <a:pathLst>
                <a:path w="10" h="1">
                  <a:moveTo>
                    <a:pt x="0" y="1"/>
                  </a:moveTo>
                  <a:lnTo>
                    <a:pt x="10" y="1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B45B"/>
            </a:solidFill>
            <a:ln w="73652">
              <a:solidFill>
                <a:srgbClr val="1111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Freeform 223"/>
            <p:cNvSpPr/>
            <p:nvPr/>
          </p:nvSpPr>
          <p:spPr>
            <a:xfrm>
              <a:off x="8457565" y="285591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TextBox 224"/>
            <p:cNvSpPr txBox="1"/>
            <p:nvPr/>
          </p:nvSpPr>
          <p:spPr>
            <a:xfrm>
              <a:off x="7679358" y="28823915"/>
              <a:ext cx="1542288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2000</a:t>
              </a:r>
            </a:p>
          </p:txBody>
        </p:sp>
        <p:sp>
          <p:nvSpPr>
            <p:cNvPr id="226" name="Freeform 225"/>
            <p:cNvSpPr/>
            <p:nvPr/>
          </p:nvSpPr>
          <p:spPr>
            <a:xfrm>
              <a:off x="11135854" y="285591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10357337" y="28823915"/>
              <a:ext cx="1542288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6000</a:t>
              </a:r>
            </a:p>
          </p:txBody>
        </p:sp>
        <p:sp>
          <p:nvSpPr>
            <p:cNvPr id="228" name="Freeform 227"/>
            <p:cNvSpPr/>
            <p:nvPr/>
          </p:nvSpPr>
          <p:spPr>
            <a:xfrm>
              <a:off x="13814143" y="285591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12861581" y="28823915"/>
              <a:ext cx="188976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10000</a:t>
              </a:r>
            </a:p>
          </p:txBody>
        </p:sp>
        <p:sp>
          <p:nvSpPr>
            <p:cNvPr id="230" name="Freeform 229"/>
            <p:cNvSpPr/>
            <p:nvPr/>
          </p:nvSpPr>
          <p:spPr>
            <a:xfrm>
              <a:off x="16492432" y="285591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15539561" y="28823915"/>
              <a:ext cx="188976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14000</a:t>
              </a:r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9094534" y="29595025"/>
              <a:ext cx="5836920" cy="9753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000" i="1" b="0">
                  <a:solidFill>
                    <a:srgbClr val="000000"/>
                  </a:solidFill>
                  <a:latin typeface="Calibri"/>
                </a:rPr>
                <a:t>Pocket volume</a:t>
              </a:r>
            </a:p>
          </p:txBody>
        </p:sp>
        <p:sp>
          <p:nvSpPr>
            <p:cNvPr id="233" name="Freeform 232"/>
            <p:cNvSpPr/>
            <p:nvPr/>
          </p:nvSpPr>
          <p:spPr>
            <a:xfrm>
              <a:off x="6850592" y="28559196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Freeform 233"/>
            <p:cNvSpPr/>
            <p:nvPr/>
          </p:nvSpPr>
          <p:spPr>
            <a:xfrm>
              <a:off x="6616241" y="28559196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5354313" y="28212493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</a:t>
              </a:r>
            </a:p>
          </p:txBody>
        </p:sp>
        <p:sp>
          <p:nvSpPr>
            <p:cNvPr id="236" name="Freeform 235"/>
            <p:cNvSpPr/>
            <p:nvPr/>
          </p:nvSpPr>
          <p:spPr>
            <a:xfrm>
              <a:off x="6850592" y="25981342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Freeform 236"/>
            <p:cNvSpPr/>
            <p:nvPr/>
          </p:nvSpPr>
          <p:spPr>
            <a:xfrm>
              <a:off x="6616241" y="25981342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TextBox 237"/>
            <p:cNvSpPr txBox="1"/>
            <p:nvPr/>
          </p:nvSpPr>
          <p:spPr>
            <a:xfrm>
              <a:off x="5317737" y="25629857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100</a:t>
              </a:r>
            </a:p>
          </p:txBody>
        </p:sp>
        <p:sp>
          <p:nvSpPr>
            <p:cNvPr id="239" name="Freeform 238"/>
            <p:cNvSpPr/>
            <p:nvPr/>
          </p:nvSpPr>
          <p:spPr>
            <a:xfrm>
              <a:off x="6850592" y="23370011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Freeform 239"/>
            <p:cNvSpPr/>
            <p:nvPr/>
          </p:nvSpPr>
          <p:spPr>
            <a:xfrm>
              <a:off x="6616241" y="23370011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5317737" y="23047221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200</a:t>
              </a:r>
            </a:p>
          </p:txBody>
        </p:sp>
        <p:sp>
          <p:nvSpPr>
            <p:cNvPr id="242" name="Freeform 241"/>
            <p:cNvSpPr/>
            <p:nvPr/>
          </p:nvSpPr>
          <p:spPr>
            <a:xfrm>
              <a:off x="6850592" y="20792158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Freeform 242"/>
            <p:cNvSpPr/>
            <p:nvPr/>
          </p:nvSpPr>
          <p:spPr>
            <a:xfrm>
              <a:off x="6616241" y="20792158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5317737" y="20464586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300</a:t>
              </a:r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4590040" y="23028554"/>
              <a:ext cx="975360" cy="2362200"/>
            </a:xfrm>
            <a:prstGeom prst="rect">
              <a:avLst/>
            </a:prstGeom>
            <a:noFill/>
          </p:spPr>
          <p:txBody>
            <a:bodyPr wrap="none" lIns="0" rIns="0" tIns="0" bIns="0" anchor="ctr" vert="vert27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000" i="1" b="0">
                  <a:solidFill>
                    <a:srgbClr val="000000"/>
                  </a:solidFill>
                  <a:latin typeface="Calibri"/>
                </a:rPr>
                <a:t>Count</a:t>
              </a:r>
            </a:p>
          </p:txBody>
        </p:sp>
        <p:sp>
          <p:nvSpPr>
            <p:cNvPr id="246" name="Freeform 245"/>
            <p:cNvSpPr/>
            <p:nvPr/>
          </p:nvSpPr>
          <p:spPr>
            <a:xfrm>
              <a:off x="10131496" y="19854757"/>
              <a:ext cx="0" cy="8704439"/>
            </a:xfrm>
            <a:custGeom>
              <a:avLst/>
              <a:gdLst/>
              <a:ahLst/>
              <a:cxnLst/>
              <a:rect l="l" t="t" r="r" b="b"/>
              <a:pathLst>
                <a:path w="0" h="260">
                  <a:moveTo>
                    <a:pt x="0" y="260"/>
                  </a:moveTo>
                  <a:lnTo>
                    <a:pt x="0" y="0"/>
                  </a:lnTo>
                </a:path>
              </a:pathLst>
            </a:custGeom>
            <a:noFill/>
            <a:ln w="133914">
              <a:solidFill>
                <a:srgbClr val="F4433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7" name="Freeform 246"/>
            <p:cNvSpPr/>
            <p:nvPr/>
          </p:nvSpPr>
          <p:spPr>
            <a:xfrm>
              <a:off x="6850592" y="19854757"/>
              <a:ext cx="0" cy="8704439"/>
            </a:xfrm>
            <a:custGeom>
              <a:avLst/>
              <a:gdLst/>
              <a:ahLst/>
              <a:cxnLst/>
              <a:rect l="l" t="t" r="r" b="b"/>
              <a:pathLst>
                <a:path w="0" h="260">
                  <a:moveTo>
                    <a:pt x="0" y="26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Freeform 247"/>
            <p:cNvSpPr/>
            <p:nvPr/>
          </p:nvSpPr>
          <p:spPr>
            <a:xfrm>
              <a:off x="6850592" y="28559196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TextBox 248"/>
            <p:cNvSpPr txBox="1"/>
            <p:nvPr/>
          </p:nvSpPr>
          <p:spPr>
            <a:xfrm>
              <a:off x="10466590" y="20054407"/>
              <a:ext cx="1542288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F44336"/>
                  </a:solidFill>
                  <a:latin typeface="Calibri"/>
                </a:rPr>
                <a:t>4511</a:t>
              </a:r>
            </a:p>
          </p:txBody>
        </p:sp>
        <p:sp>
          <p:nvSpPr>
            <p:cNvPr id="250" name="TextBox 249"/>
            <p:cNvSpPr txBox="1"/>
            <p:nvPr/>
          </p:nvSpPr>
          <p:spPr>
            <a:xfrm>
              <a:off x="2194560" y="18075620"/>
              <a:ext cx="9043924" cy="1235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7600" i="1" b="1">
                  <a:solidFill>
                    <a:srgbClr val="000000"/>
                  </a:solidFill>
                  <a:latin typeface="Calibri"/>
                </a:rPr>
                <a:t>d. Pocket volume</a:t>
              </a:r>
            </a:p>
          </p:txBody>
        </p:sp>
      </p:grpSp>
      <p:grpSp>
        <p:nvGrpSpPr>
          <p:cNvPr id="293" name="Editable SVG panel 05: panel-05"/>
          <p:cNvGrpSpPr/>
          <p:nvPr/>
        </p:nvGrpSpPr>
        <p:grpSpPr>
          <a:xfrm>
            <a:off x="17679669" y="17846040"/>
            <a:ext cx="19896700" cy="13437180"/>
            <a:chOff x="17679669" y="17846040"/>
            <a:chExt cx="19896700" cy="13437180"/>
          </a:xfrm>
        </p:grpSpPr>
        <p:sp>
          <p:nvSpPr>
            <p:cNvPr id="252" name="Panel layout anchor: panel-05"/>
            <p:cNvSpPr/>
            <p:nvPr/>
          </p:nvSpPr>
          <p:spPr>
            <a:xfrm>
              <a:off x="17679669" y="17846040"/>
              <a:ext cx="19896698" cy="1343027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Freeform 252"/>
            <p:cNvSpPr/>
            <p:nvPr/>
          </p:nvSpPr>
          <p:spPr>
            <a:xfrm>
              <a:off x="17679670" y="17846040"/>
              <a:ext cx="19896699" cy="13437180"/>
            </a:xfrm>
            <a:custGeom>
              <a:avLst/>
              <a:gdLst/>
              <a:ahLst/>
              <a:cxnLst/>
              <a:rect l="l" t="t" r="r" b="b"/>
              <a:pathLst>
                <a:path w="576" h="389">
                  <a:moveTo>
                    <a:pt x="0" y="389"/>
                  </a:moveTo>
                  <a:lnTo>
                    <a:pt x="576" y="389"/>
                  </a:lnTo>
                  <a:lnTo>
                    <a:pt x="576" y="0"/>
                  </a:lnTo>
                  <a:lnTo>
                    <a:pt x="0" y="0"/>
                  </a:lnTo>
                  <a:lnTo>
                    <a:pt x="0" y="389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Freeform 253"/>
            <p:cNvSpPr/>
            <p:nvPr/>
          </p:nvSpPr>
          <p:spPr>
            <a:xfrm>
              <a:off x="21064872" y="19987699"/>
              <a:ext cx="16096982" cy="8324834"/>
            </a:xfrm>
            <a:custGeom>
              <a:avLst/>
              <a:gdLst/>
              <a:ahLst/>
              <a:cxnLst/>
              <a:rect l="l" t="t" r="r" b="b"/>
              <a:pathLst>
                <a:path w="466" h="241">
                  <a:moveTo>
                    <a:pt x="0" y="241"/>
                  </a:moveTo>
                  <a:lnTo>
                    <a:pt x="466" y="241"/>
                  </a:lnTo>
                  <a:lnTo>
                    <a:pt x="466" y="0"/>
                  </a:lnTo>
                  <a:lnTo>
                    <a:pt x="0" y="0"/>
                  </a:lnTo>
                  <a:lnTo>
                    <a:pt x="0" y="24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Freeform 254"/>
            <p:cNvSpPr/>
            <p:nvPr/>
          </p:nvSpPr>
          <p:spPr>
            <a:xfrm>
              <a:off x="21479387" y="28312533"/>
              <a:ext cx="0" cy="276343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TextBox 255"/>
            <p:cNvSpPr txBox="1"/>
            <p:nvPr/>
          </p:nvSpPr>
          <p:spPr>
            <a:xfrm>
              <a:off x="20916545" y="28714890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</a:t>
              </a:r>
            </a:p>
          </p:txBody>
        </p:sp>
        <p:sp>
          <p:nvSpPr>
            <p:cNvPr id="257" name="Freeform 256"/>
            <p:cNvSpPr/>
            <p:nvPr/>
          </p:nvSpPr>
          <p:spPr>
            <a:xfrm>
              <a:off x="24484617" y="28312533"/>
              <a:ext cx="0" cy="276343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TextBox 257"/>
            <p:cNvSpPr txBox="1"/>
            <p:nvPr/>
          </p:nvSpPr>
          <p:spPr>
            <a:xfrm>
              <a:off x="23906587" y="28714890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10</a:t>
              </a:r>
            </a:p>
          </p:txBody>
        </p:sp>
        <p:sp>
          <p:nvSpPr>
            <p:cNvPr id="259" name="Freeform 258"/>
            <p:cNvSpPr/>
            <p:nvPr/>
          </p:nvSpPr>
          <p:spPr>
            <a:xfrm>
              <a:off x="27489848" y="28312533"/>
              <a:ext cx="0" cy="276343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26896629" y="28714890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20</a:t>
              </a:r>
            </a:p>
          </p:txBody>
        </p:sp>
        <p:sp>
          <p:nvSpPr>
            <p:cNvPr id="261" name="Freeform 260"/>
            <p:cNvSpPr/>
            <p:nvPr/>
          </p:nvSpPr>
          <p:spPr>
            <a:xfrm>
              <a:off x="30460536" y="28312533"/>
              <a:ext cx="0" cy="276343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TextBox 261"/>
            <p:cNvSpPr txBox="1"/>
            <p:nvPr/>
          </p:nvSpPr>
          <p:spPr>
            <a:xfrm>
              <a:off x="29886671" y="28714890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30</a:t>
              </a:r>
            </a:p>
          </p:txBody>
        </p:sp>
        <p:sp>
          <p:nvSpPr>
            <p:cNvPr id="263" name="Freeform 262"/>
            <p:cNvSpPr/>
            <p:nvPr/>
          </p:nvSpPr>
          <p:spPr>
            <a:xfrm>
              <a:off x="33465766" y="28312533"/>
              <a:ext cx="0" cy="276343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32876713" y="28714890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40</a:t>
              </a:r>
            </a:p>
          </p:txBody>
        </p:sp>
        <p:sp>
          <p:nvSpPr>
            <p:cNvPr id="265" name="Freeform 264"/>
            <p:cNvSpPr/>
            <p:nvPr/>
          </p:nvSpPr>
          <p:spPr>
            <a:xfrm>
              <a:off x="36436454" y="28312533"/>
              <a:ext cx="0" cy="276343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TextBox 265"/>
            <p:cNvSpPr txBox="1"/>
            <p:nvPr/>
          </p:nvSpPr>
          <p:spPr>
            <a:xfrm>
              <a:off x="35866754" y="28714890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50</a:t>
              </a:r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27939172" y="29610234"/>
              <a:ext cx="2362200" cy="9753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000" i="1" b="0">
                  <a:solidFill>
                    <a:srgbClr val="000000"/>
                  </a:solidFill>
                  <a:latin typeface="Calibri"/>
                </a:rPr>
                <a:t>Epoch</a:t>
              </a:r>
            </a:p>
          </p:txBody>
        </p:sp>
        <p:sp>
          <p:nvSpPr>
            <p:cNvPr id="268" name="Freeform 267"/>
            <p:cNvSpPr/>
            <p:nvPr/>
          </p:nvSpPr>
          <p:spPr>
            <a:xfrm>
              <a:off x="21064872" y="28312533"/>
              <a:ext cx="16096982" cy="0"/>
            </a:xfrm>
            <a:custGeom>
              <a:avLst/>
              <a:gdLst/>
              <a:ahLst/>
              <a:cxnLst/>
              <a:rect l="l" t="t" r="r" b="b"/>
              <a:pathLst>
                <a:path w="466" h="0">
                  <a:moveTo>
                    <a:pt x="0" y="0"/>
                  </a:moveTo>
                  <a:lnTo>
                    <a:pt x="466" y="0"/>
                  </a:lnTo>
                </a:path>
              </a:pathLst>
            </a:custGeom>
            <a:noFill/>
            <a:ln w="69085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Freeform 268"/>
            <p:cNvSpPr/>
            <p:nvPr/>
          </p:nvSpPr>
          <p:spPr>
            <a:xfrm>
              <a:off x="20788529" y="28312533"/>
              <a:ext cx="276343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19506626" y="28020946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</a:t>
              </a:r>
            </a:p>
          </p:txBody>
        </p:sp>
        <p:sp>
          <p:nvSpPr>
            <p:cNvPr id="271" name="Freeform 270"/>
            <p:cNvSpPr/>
            <p:nvPr/>
          </p:nvSpPr>
          <p:spPr>
            <a:xfrm>
              <a:off x="21064872" y="25549102"/>
              <a:ext cx="16096982" cy="0"/>
            </a:xfrm>
            <a:custGeom>
              <a:avLst/>
              <a:gdLst/>
              <a:ahLst/>
              <a:cxnLst/>
              <a:rect l="l" t="t" r="r" b="b"/>
              <a:pathLst>
                <a:path w="466" h="0">
                  <a:moveTo>
                    <a:pt x="0" y="0"/>
                  </a:moveTo>
                  <a:lnTo>
                    <a:pt x="466" y="0"/>
                  </a:lnTo>
                </a:path>
              </a:pathLst>
            </a:custGeom>
            <a:noFill/>
            <a:ln w="69085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Freeform 271"/>
            <p:cNvSpPr/>
            <p:nvPr/>
          </p:nvSpPr>
          <p:spPr>
            <a:xfrm>
              <a:off x="20788529" y="25549102"/>
              <a:ext cx="276343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19506626" y="25245356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5</a:t>
              </a:r>
            </a:p>
          </p:txBody>
        </p:sp>
        <p:sp>
          <p:nvSpPr>
            <p:cNvPr id="274" name="Freeform 273"/>
            <p:cNvSpPr/>
            <p:nvPr/>
          </p:nvSpPr>
          <p:spPr>
            <a:xfrm>
              <a:off x="21064872" y="22785672"/>
              <a:ext cx="16096982" cy="0"/>
            </a:xfrm>
            <a:custGeom>
              <a:avLst/>
              <a:gdLst/>
              <a:ahLst/>
              <a:cxnLst/>
              <a:rect l="l" t="t" r="r" b="b"/>
              <a:pathLst>
                <a:path w="466" h="0">
                  <a:moveTo>
                    <a:pt x="0" y="0"/>
                  </a:moveTo>
                  <a:lnTo>
                    <a:pt x="466" y="0"/>
                  </a:lnTo>
                </a:path>
              </a:pathLst>
            </a:custGeom>
            <a:noFill/>
            <a:ln w="69085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Freeform 274"/>
            <p:cNvSpPr/>
            <p:nvPr/>
          </p:nvSpPr>
          <p:spPr>
            <a:xfrm>
              <a:off x="20788529" y="22785672"/>
              <a:ext cx="276343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TextBox 275"/>
            <p:cNvSpPr txBox="1"/>
            <p:nvPr/>
          </p:nvSpPr>
          <p:spPr>
            <a:xfrm>
              <a:off x="19506626" y="22469767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10</a:t>
              </a:r>
            </a:p>
          </p:txBody>
        </p:sp>
        <p:sp>
          <p:nvSpPr>
            <p:cNvPr id="277" name="Freeform 276"/>
            <p:cNvSpPr/>
            <p:nvPr/>
          </p:nvSpPr>
          <p:spPr>
            <a:xfrm>
              <a:off x="21064872" y="19987699"/>
              <a:ext cx="16096982" cy="0"/>
            </a:xfrm>
            <a:custGeom>
              <a:avLst/>
              <a:gdLst/>
              <a:ahLst/>
              <a:cxnLst/>
              <a:rect l="l" t="t" r="r" b="b"/>
              <a:pathLst>
                <a:path w="466" h="0">
                  <a:moveTo>
                    <a:pt x="0" y="0"/>
                  </a:moveTo>
                  <a:lnTo>
                    <a:pt x="466" y="0"/>
                  </a:lnTo>
                </a:path>
              </a:pathLst>
            </a:custGeom>
            <a:noFill/>
            <a:ln w="69085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Freeform 277"/>
            <p:cNvSpPr/>
            <p:nvPr/>
          </p:nvSpPr>
          <p:spPr>
            <a:xfrm>
              <a:off x="20788529" y="19987699"/>
              <a:ext cx="276343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19506626" y="19694177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15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18911016" y="21891318"/>
              <a:ext cx="975360" cy="4533900"/>
            </a:xfrm>
            <a:prstGeom prst="rect">
              <a:avLst/>
            </a:prstGeom>
            <a:noFill/>
          </p:spPr>
          <p:txBody>
            <a:bodyPr wrap="none" lIns="0" rIns="0" tIns="0" bIns="0" anchor="ctr" vert="vert27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000" i="1" b="0">
                  <a:solidFill>
                    <a:srgbClr val="000000"/>
                  </a:solidFill>
                  <a:latin typeface="Calibri"/>
                </a:rPr>
                <a:t>Train loss</a:t>
              </a:r>
            </a:p>
          </p:txBody>
        </p:sp>
        <p:sp>
          <p:nvSpPr>
            <p:cNvPr id="281" name="Freeform 280"/>
            <p:cNvSpPr/>
            <p:nvPr/>
          </p:nvSpPr>
          <p:spPr>
            <a:xfrm>
              <a:off x="21790273" y="20609470"/>
              <a:ext cx="14646181" cy="6459519"/>
            </a:xfrm>
            <a:custGeom>
              <a:avLst/>
              <a:gdLst/>
              <a:ahLst/>
              <a:cxnLst/>
              <a:rect l="l" t="t" r="r" b="b"/>
              <a:pathLst>
                <a:path w="424" h="187">
                  <a:moveTo>
                    <a:pt x="0" y="0"/>
                  </a:moveTo>
                  <a:lnTo>
                    <a:pt x="9" y="64"/>
                  </a:lnTo>
                  <a:lnTo>
                    <a:pt x="17" y="93"/>
                  </a:lnTo>
                  <a:lnTo>
                    <a:pt x="26" y="108"/>
                  </a:lnTo>
                  <a:lnTo>
                    <a:pt x="35" y="120"/>
                  </a:lnTo>
                  <a:lnTo>
                    <a:pt x="43" y="128"/>
                  </a:lnTo>
                  <a:lnTo>
                    <a:pt x="52" y="135"/>
                  </a:lnTo>
                  <a:lnTo>
                    <a:pt x="61" y="140"/>
                  </a:lnTo>
                  <a:lnTo>
                    <a:pt x="69" y="144"/>
                  </a:lnTo>
                  <a:lnTo>
                    <a:pt x="78" y="148"/>
                  </a:lnTo>
                  <a:lnTo>
                    <a:pt x="87" y="151"/>
                  </a:lnTo>
                  <a:lnTo>
                    <a:pt x="95" y="154"/>
                  </a:lnTo>
                  <a:lnTo>
                    <a:pt x="104" y="156"/>
                  </a:lnTo>
                  <a:lnTo>
                    <a:pt x="113" y="159"/>
                  </a:lnTo>
                  <a:lnTo>
                    <a:pt x="121" y="161"/>
                  </a:lnTo>
                  <a:lnTo>
                    <a:pt x="130" y="162"/>
                  </a:lnTo>
                  <a:lnTo>
                    <a:pt x="139" y="163"/>
                  </a:lnTo>
                  <a:lnTo>
                    <a:pt x="147" y="165"/>
                  </a:lnTo>
                  <a:lnTo>
                    <a:pt x="156" y="167"/>
                  </a:lnTo>
                  <a:lnTo>
                    <a:pt x="165" y="170"/>
                  </a:lnTo>
                  <a:lnTo>
                    <a:pt x="173" y="169"/>
                  </a:lnTo>
                  <a:lnTo>
                    <a:pt x="182" y="170"/>
                  </a:lnTo>
                  <a:lnTo>
                    <a:pt x="191" y="171"/>
                  </a:lnTo>
                  <a:lnTo>
                    <a:pt x="199" y="173"/>
                  </a:lnTo>
                  <a:lnTo>
                    <a:pt x="208" y="173"/>
                  </a:lnTo>
                  <a:lnTo>
                    <a:pt x="217" y="176"/>
                  </a:lnTo>
                  <a:lnTo>
                    <a:pt x="225" y="174"/>
                  </a:lnTo>
                  <a:lnTo>
                    <a:pt x="234" y="175"/>
                  </a:lnTo>
                  <a:lnTo>
                    <a:pt x="242" y="177"/>
                  </a:lnTo>
                  <a:lnTo>
                    <a:pt x="251" y="176"/>
                  </a:lnTo>
                  <a:lnTo>
                    <a:pt x="260" y="177"/>
                  </a:lnTo>
                  <a:lnTo>
                    <a:pt x="268" y="178"/>
                  </a:lnTo>
                  <a:lnTo>
                    <a:pt x="277" y="178"/>
                  </a:lnTo>
                  <a:lnTo>
                    <a:pt x="286" y="180"/>
                  </a:lnTo>
                  <a:lnTo>
                    <a:pt x="294" y="181"/>
                  </a:lnTo>
                  <a:lnTo>
                    <a:pt x="303" y="180"/>
                  </a:lnTo>
                  <a:lnTo>
                    <a:pt x="312" y="179"/>
                  </a:lnTo>
                  <a:lnTo>
                    <a:pt x="320" y="183"/>
                  </a:lnTo>
                  <a:lnTo>
                    <a:pt x="329" y="182"/>
                  </a:lnTo>
                  <a:lnTo>
                    <a:pt x="338" y="182"/>
                  </a:lnTo>
                  <a:lnTo>
                    <a:pt x="346" y="183"/>
                  </a:lnTo>
                  <a:lnTo>
                    <a:pt x="355" y="184"/>
                  </a:lnTo>
                  <a:lnTo>
                    <a:pt x="364" y="183"/>
                  </a:lnTo>
                  <a:lnTo>
                    <a:pt x="372" y="183"/>
                  </a:lnTo>
                  <a:lnTo>
                    <a:pt x="381" y="185"/>
                  </a:lnTo>
                  <a:lnTo>
                    <a:pt x="390" y="184"/>
                  </a:lnTo>
                  <a:lnTo>
                    <a:pt x="398" y="186"/>
                  </a:lnTo>
                  <a:lnTo>
                    <a:pt x="407" y="185"/>
                  </a:lnTo>
                  <a:lnTo>
                    <a:pt x="416" y="187"/>
                  </a:lnTo>
                  <a:lnTo>
                    <a:pt x="424" y="187"/>
                  </a:lnTo>
                </a:path>
              </a:pathLst>
            </a:custGeom>
            <a:noFill/>
            <a:ln w="138171">
              <a:solidFill>
                <a:srgbClr val="42A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Freeform 281"/>
            <p:cNvSpPr/>
            <p:nvPr/>
          </p:nvSpPr>
          <p:spPr>
            <a:xfrm>
              <a:off x="21790273" y="21714843"/>
              <a:ext cx="14646181" cy="5526861"/>
            </a:xfrm>
            <a:custGeom>
              <a:avLst/>
              <a:gdLst/>
              <a:ahLst/>
              <a:cxnLst/>
              <a:rect l="l" t="t" r="r" b="b"/>
              <a:pathLst>
                <a:path w="424" h="160">
                  <a:moveTo>
                    <a:pt x="0" y="0"/>
                  </a:moveTo>
                  <a:lnTo>
                    <a:pt x="9" y="54"/>
                  </a:lnTo>
                  <a:lnTo>
                    <a:pt x="17" y="77"/>
                  </a:lnTo>
                  <a:lnTo>
                    <a:pt x="26" y="93"/>
                  </a:lnTo>
                  <a:lnTo>
                    <a:pt x="35" y="101"/>
                  </a:lnTo>
                  <a:lnTo>
                    <a:pt x="43" y="109"/>
                  </a:lnTo>
                  <a:lnTo>
                    <a:pt x="52" y="114"/>
                  </a:lnTo>
                  <a:lnTo>
                    <a:pt x="61" y="119"/>
                  </a:lnTo>
                  <a:lnTo>
                    <a:pt x="69" y="125"/>
                  </a:lnTo>
                  <a:lnTo>
                    <a:pt x="78" y="128"/>
                  </a:lnTo>
                  <a:lnTo>
                    <a:pt x="87" y="130"/>
                  </a:lnTo>
                  <a:lnTo>
                    <a:pt x="95" y="131"/>
                  </a:lnTo>
                  <a:lnTo>
                    <a:pt x="104" y="133"/>
                  </a:lnTo>
                  <a:lnTo>
                    <a:pt x="113" y="135"/>
                  </a:lnTo>
                  <a:lnTo>
                    <a:pt x="121" y="138"/>
                  </a:lnTo>
                  <a:lnTo>
                    <a:pt x="130" y="138"/>
                  </a:lnTo>
                  <a:lnTo>
                    <a:pt x="139" y="140"/>
                  </a:lnTo>
                  <a:lnTo>
                    <a:pt x="147" y="141"/>
                  </a:lnTo>
                  <a:lnTo>
                    <a:pt x="156" y="144"/>
                  </a:lnTo>
                  <a:lnTo>
                    <a:pt x="165" y="145"/>
                  </a:lnTo>
                  <a:lnTo>
                    <a:pt x="173" y="144"/>
                  </a:lnTo>
                  <a:lnTo>
                    <a:pt x="182" y="146"/>
                  </a:lnTo>
                  <a:lnTo>
                    <a:pt x="191" y="146"/>
                  </a:lnTo>
                  <a:lnTo>
                    <a:pt x="199" y="147"/>
                  </a:lnTo>
                  <a:lnTo>
                    <a:pt x="208" y="147"/>
                  </a:lnTo>
                  <a:lnTo>
                    <a:pt x="217" y="149"/>
                  </a:lnTo>
                  <a:lnTo>
                    <a:pt x="225" y="150"/>
                  </a:lnTo>
                  <a:lnTo>
                    <a:pt x="234" y="150"/>
                  </a:lnTo>
                  <a:lnTo>
                    <a:pt x="242" y="150"/>
                  </a:lnTo>
                  <a:lnTo>
                    <a:pt x="251" y="153"/>
                  </a:lnTo>
                  <a:lnTo>
                    <a:pt x="260" y="151"/>
                  </a:lnTo>
                  <a:lnTo>
                    <a:pt x="268" y="153"/>
                  </a:lnTo>
                  <a:lnTo>
                    <a:pt x="277" y="153"/>
                  </a:lnTo>
                  <a:lnTo>
                    <a:pt x="286" y="154"/>
                  </a:lnTo>
                  <a:lnTo>
                    <a:pt x="294" y="155"/>
                  </a:lnTo>
                  <a:lnTo>
                    <a:pt x="303" y="154"/>
                  </a:lnTo>
                  <a:lnTo>
                    <a:pt x="312" y="153"/>
                  </a:lnTo>
                  <a:lnTo>
                    <a:pt x="320" y="155"/>
                  </a:lnTo>
                  <a:lnTo>
                    <a:pt x="329" y="155"/>
                  </a:lnTo>
                  <a:lnTo>
                    <a:pt x="338" y="154"/>
                  </a:lnTo>
                  <a:lnTo>
                    <a:pt x="346" y="157"/>
                  </a:lnTo>
                  <a:lnTo>
                    <a:pt x="355" y="157"/>
                  </a:lnTo>
                  <a:lnTo>
                    <a:pt x="364" y="156"/>
                  </a:lnTo>
                  <a:lnTo>
                    <a:pt x="372" y="158"/>
                  </a:lnTo>
                  <a:lnTo>
                    <a:pt x="381" y="159"/>
                  </a:lnTo>
                  <a:lnTo>
                    <a:pt x="390" y="158"/>
                  </a:lnTo>
                  <a:lnTo>
                    <a:pt x="398" y="157"/>
                  </a:lnTo>
                  <a:lnTo>
                    <a:pt x="407" y="159"/>
                  </a:lnTo>
                  <a:lnTo>
                    <a:pt x="416" y="158"/>
                  </a:lnTo>
                  <a:lnTo>
                    <a:pt x="424" y="160"/>
                  </a:lnTo>
                </a:path>
              </a:pathLst>
            </a:custGeom>
            <a:noFill/>
            <a:ln w="138171">
              <a:solidFill>
                <a:srgbClr val="4CAF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Freeform 282"/>
            <p:cNvSpPr/>
            <p:nvPr/>
          </p:nvSpPr>
          <p:spPr>
            <a:xfrm>
              <a:off x="21790273" y="22612957"/>
              <a:ext cx="14646181" cy="4801460"/>
            </a:xfrm>
            <a:custGeom>
              <a:avLst/>
              <a:gdLst/>
              <a:ahLst/>
              <a:cxnLst/>
              <a:rect l="l" t="t" r="r" b="b"/>
              <a:pathLst>
                <a:path w="424" h="139">
                  <a:moveTo>
                    <a:pt x="0" y="0"/>
                  </a:moveTo>
                  <a:lnTo>
                    <a:pt x="9" y="48"/>
                  </a:lnTo>
                  <a:lnTo>
                    <a:pt x="17" y="69"/>
                  </a:lnTo>
                  <a:lnTo>
                    <a:pt x="26" y="78"/>
                  </a:lnTo>
                  <a:lnTo>
                    <a:pt x="35" y="89"/>
                  </a:lnTo>
                  <a:lnTo>
                    <a:pt x="43" y="96"/>
                  </a:lnTo>
                  <a:lnTo>
                    <a:pt x="52" y="101"/>
                  </a:lnTo>
                  <a:lnTo>
                    <a:pt x="61" y="104"/>
                  </a:lnTo>
                  <a:lnTo>
                    <a:pt x="69" y="106"/>
                  </a:lnTo>
                  <a:lnTo>
                    <a:pt x="78" y="111"/>
                  </a:lnTo>
                  <a:lnTo>
                    <a:pt x="87" y="111"/>
                  </a:lnTo>
                  <a:lnTo>
                    <a:pt x="95" y="114"/>
                  </a:lnTo>
                  <a:lnTo>
                    <a:pt x="104" y="116"/>
                  </a:lnTo>
                  <a:lnTo>
                    <a:pt x="113" y="117"/>
                  </a:lnTo>
                  <a:lnTo>
                    <a:pt x="121" y="119"/>
                  </a:lnTo>
                  <a:lnTo>
                    <a:pt x="130" y="120"/>
                  </a:lnTo>
                  <a:lnTo>
                    <a:pt x="139" y="122"/>
                  </a:lnTo>
                  <a:lnTo>
                    <a:pt x="147" y="123"/>
                  </a:lnTo>
                  <a:lnTo>
                    <a:pt x="156" y="123"/>
                  </a:lnTo>
                  <a:lnTo>
                    <a:pt x="165" y="125"/>
                  </a:lnTo>
                  <a:lnTo>
                    <a:pt x="173" y="126"/>
                  </a:lnTo>
                  <a:lnTo>
                    <a:pt x="182" y="126"/>
                  </a:lnTo>
                  <a:lnTo>
                    <a:pt x="191" y="126"/>
                  </a:lnTo>
                  <a:lnTo>
                    <a:pt x="199" y="127"/>
                  </a:lnTo>
                  <a:lnTo>
                    <a:pt x="208" y="129"/>
                  </a:lnTo>
                  <a:lnTo>
                    <a:pt x="217" y="129"/>
                  </a:lnTo>
                  <a:lnTo>
                    <a:pt x="225" y="130"/>
                  </a:lnTo>
                  <a:lnTo>
                    <a:pt x="234" y="129"/>
                  </a:lnTo>
                  <a:lnTo>
                    <a:pt x="242" y="130"/>
                  </a:lnTo>
                  <a:lnTo>
                    <a:pt x="251" y="131"/>
                  </a:lnTo>
                  <a:lnTo>
                    <a:pt x="260" y="132"/>
                  </a:lnTo>
                  <a:lnTo>
                    <a:pt x="268" y="132"/>
                  </a:lnTo>
                  <a:lnTo>
                    <a:pt x="277" y="132"/>
                  </a:lnTo>
                  <a:lnTo>
                    <a:pt x="286" y="134"/>
                  </a:lnTo>
                  <a:lnTo>
                    <a:pt x="294" y="133"/>
                  </a:lnTo>
                  <a:lnTo>
                    <a:pt x="303" y="135"/>
                  </a:lnTo>
                  <a:lnTo>
                    <a:pt x="312" y="135"/>
                  </a:lnTo>
                  <a:lnTo>
                    <a:pt x="320" y="135"/>
                  </a:lnTo>
                  <a:lnTo>
                    <a:pt x="329" y="134"/>
                  </a:lnTo>
                  <a:lnTo>
                    <a:pt x="338" y="133"/>
                  </a:lnTo>
                  <a:lnTo>
                    <a:pt x="346" y="135"/>
                  </a:lnTo>
                  <a:lnTo>
                    <a:pt x="355" y="135"/>
                  </a:lnTo>
                  <a:lnTo>
                    <a:pt x="364" y="137"/>
                  </a:lnTo>
                  <a:lnTo>
                    <a:pt x="372" y="137"/>
                  </a:lnTo>
                  <a:lnTo>
                    <a:pt x="381" y="137"/>
                  </a:lnTo>
                  <a:lnTo>
                    <a:pt x="390" y="137"/>
                  </a:lnTo>
                  <a:lnTo>
                    <a:pt x="398" y="136"/>
                  </a:lnTo>
                  <a:lnTo>
                    <a:pt x="407" y="137"/>
                  </a:lnTo>
                  <a:lnTo>
                    <a:pt x="416" y="139"/>
                  </a:lnTo>
                  <a:lnTo>
                    <a:pt x="424" y="137"/>
                  </a:lnTo>
                </a:path>
              </a:pathLst>
            </a:custGeom>
            <a:noFill/>
            <a:ln w="138171">
              <a:solidFill>
                <a:srgbClr val="FF9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Freeform 283"/>
            <p:cNvSpPr/>
            <p:nvPr/>
          </p:nvSpPr>
          <p:spPr>
            <a:xfrm>
              <a:off x="21064872" y="19987699"/>
              <a:ext cx="0" cy="8324834"/>
            </a:xfrm>
            <a:custGeom>
              <a:avLst/>
              <a:gdLst/>
              <a:ahLst/>
              <a:cxnLst/>
              <a:rect l="l" t="t" r="r" b="b"/>
              <a:pathLst>
                <a:path w="0" h="241">
                  <a:moveTo>
                    <a:pt x="0" y="241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Freeform 284"/>
            <p:cNvSpPr/>
            <p:nvPr/>
          </p:nvSpPr>
          <p:spPr>
            <a:xfrm>
              <a:off x="21064872" y="28312533"/>
              <a:ext cx="16096982" cy="0"/>
            </a:xfrm>
            <a:custGeom>
              <a:avLst/>
              <a:gdLst/>
              <a:ahLst/>
              <a:cxnLst/>
              <a:rect l="l" t="t" r="r" b="b"/>
              <a:pathLst>
                <a:path w="466" h="0">
                  <a:moveTo>
                    <a:pt x="0" y="0"/>
                  </a:moveTo>
                  <a:lnTo>
                    <a:pt x="466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Freeform 285"/>
            <p:cNvSpPr/>
            <p:nvPr/>
          </p:nvSpPr>
          <p:spPr>
            <a:xfrm>
              <a:off x="30598707" y="21058528"/>
              <a:ext cx="1658058" cy="0"/>
            </a:xfrm>
            <a:custGeom>
              <a:avLst/>
              <a:gdLst/>
              <a:ahLst/>
              <a:cxnLst/>
              <a:rect l="l" t="t" r="r" b="b"/>
              <a:pathLst>
                <a:path w="48" h="0">
                  <a:moveTo>
                    <a:pt x="0" y="0"/>
                  </a:moveTo>
                  <a:lnTo>
                    <a:pt x="24" y="0"/>
                  </a:lnTo>
                  <a:lnTo>
                    <a:pt x="48" y="0"/>
                  </a:lnTo>
                </a:path>
              </a:pathLst>
            </a:custGeom>
            <a:noFill/>
            <a:ln w="138171">
              <a:solidFill>
                <a:srgbClr val="42A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TextBox 286"/>
            <p:cNvSpPr txBox="1"/>
            <p:nvPr/>
          </p:nvSpPr>
          <p:spPr>
            <a:xfrm>
              <a:off x="32930179" y="20737005"/>
              <a:ext cx="293217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Gaussian</a:t>
              </a:r>
            </a:p>
          </p:txBody>
        </p:sp>
        <p:sp>
          <p:nvSpPr>
            <p:cNvPr id="288" name="Freeform 287"/>
            <p:cNvSpPr/>
            <p:nvPr/>
          </p:nvSpPr>
          <p:spPr>
            <a:xfrm>
              <a:off x="30598707" y="22232986"/>
              <a:ext cx="1658058" cy="0"/>
            </a:xfrm>
            <a:custGeom>
              <a:avLst/>
              <a:gdLst/>
              <a:ahLst/>
              <a:cxnLst/>
              <a:rect l="l" t="t" r="r" b="b"/>
              <a:pathLst>
                <a:path w="48" h="0">
                  <a:moveTo>
                    <a:pt x="0" y="0"/>
                  </a:moveTo>
                  <a:lnTo>
                    <a:pt x="24" y="0"/>
                  </a:lnTo>
                  <a:lnTo>
                    <a:pt x="48" y="0"/>
                  </a:lnTo>
                </a:path>
              </a:pathLst>
            </a:custGeom>
            <a:noFill/>
            <a:ln w="138171">
              <a:solidFill>
                <a:srgbClr val="4CAF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32930179" y="21909693"/>
              <a:ext cx="188976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Sobol</a:t>
              </a:r>
            </a:p>
          </p:txBody>
        </p:sp>
        <p:sp>
          <p:nvSpPr>
            <p:cNvPr id="290" name="Freeform 289"/>
            <p:cNvSpPr/>
            <p:nvPr/>
          </p:nvSpPr>
          <p:spPr>
            <a:xfrm>
              <a:off x="30598707" y="23372901"/>
              <a:ext cx="1658058" cy="0"/>
            </a:xfrm>
            <a:custGeom>
              <a:avLst/>
              <a:gdLst/>
              <a:ahLst/>
              <a:cxnLst/>
              <a:rect l="l" t="t" r="r" b="b"/>
              <a:pathLst>
                <a:path w="48" h="0">
                  <a:moveTo>
                    <a:pt x="0" y="0"/>
                  </a:moveTo>
                  <a:lnTo>
                    <a:pt x="24" y="0"/>
                  </a:lnTo>
                  <a:lnTo>
                    <a:pt x="48" y="0"/>
                  </a:lnTo>
                </a:path>
              </a:pathLst>
            </a:custGeom>
            <a:noFill/>
            <a:ln w="138171">
              <a:solidFill>
                <a:srgbClr val="FF9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32930179" y="23082380"/>
              <a:ext cx="188976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Shell</a:t>
              </a:r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18045430" y="18090604"/>
              <a:ext cx="9043924" cy="1235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7600" i="1" b="1">
                  <a:solidFill>
                    <a:srgbClr val="000000"/>
                  </a:solidFill>
                  <a:latin typeface="Calibri"/>
                </a:rPr>
                <a:t>e. Training loss</a:t>
              </a:r>
            </a:p>
          </p:txBody>
        </p:sp>
      </p:grpSp>
      <p:grpSp>
        <p:nvGrpSpPr>
          <p:cNvPr id="428" name="Editable SVG panel 06: panel-06"/>
          <p:cNvGrpSpPr/>
          <p:nvPr/>
        </p:nvGrpSpPr>
        <p:grpSpPr>
          <a:xfrm>
            <a:off x="37759248" y="17846040"/>
            <a:ext cx="11618352" cy="12780186"/>
            <a:chOff x="37759248" y="17846040"/>
            <a:chExt cx="11618352" cy="12780186"/>
          </a:xfrm>
        </p:grpSpPr>
        <p:sp>
          <p:nvSpPr>
            <p:cNvPr id="294" name="Panel layout anchor: panel-06"/>
            <p:cNvSpPr/>
            <p:nvPr/>
          </p:nvSpPr>
          <p:spPr>
            <a:xfrm>
              <a:off x="37759248" y="17846040"/>
              <a:ext cx="11618351" cy="1278018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Freeform 294"/>
            <p:cNvSpPr/>
            <p:nvPr/>
          </p:nvSpPr>
          <p:spPr>
            <a:xfrm>
              <a:off x="37759249" y="17846040"/>
              <a:ext cx="11618351" cy="12774808"/>
            </a:xfrm>
            <a:custGeom>
              <a:avLst/>
              <a:gdLst/>
              <a:ahLst/>
              <a:cxnLst/>
              <a:rect l="l" t="t" r="r" b="b"/>
              <a:pathLst>
                <a:path w="432" h="475">
                  <a:moveTo>
                    <a:pt x="0" y="475"/>
                  </a:moveTo>
                  <a:lnTo>
                    <a:pt x="432" y="475"/>
                  </a:lnTo>
                  <a:lnTo>
                    <a:pt x="432" y="0"/>
                  </a:lnTo>
                  <a:lnTo>
                    <a:pt x="0" y="0"/>
                  </a:lnTo>
                  <a:lnTo>
                    <a:pt x="0" y="475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Freeform 295"/>
            <p:cNvSpPr/>
            <p:nvPr/>
          </p:nvSpPr>
          <p:spPr>
            <a:xfrm>
              <a:off x="40421788" y="19513489"/>
              <a:ext cx="8713763" cy="8821341"/>
            </a:xfrm>
            <a:custGeom>
              <a:avLst/>
              <a:gdLst/>
              <a:ahLst/>
              <a:cxnLst/>
              <a:rect l="l" t="t" r="r" b="b"/>
              <a:pathLst>
                <a:path w="324" h="328">
                  <a:moveTo>
                    <a:pt x="0" y="328"/>
                  </a:moveTo>
                  <a:lnTo>
                    <a:pt x="324" y="328"/>
                  </a:lnTo>
                  <a:lnTo>
                    <a:pt x="324" y="0"/>
                  </a:lnTo>
                  <a:lnTo>
                    <a:pt x="0" y="0"/>
                  </a:lnTo>
                  <a:lnTo>
                    <a:pt x="0" y="328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Freeform 296"/>
            <p:cNvSpPr/>
            <p:nvPr/>
          </p:nvSpPr>
          <p:spPr>
            <a:xfrm>
              <a:off x="43380164" y="24273785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Freeform 297"/>
            <p:cNvSpPr/>
            <p:nvPr/>
          </p:nvSpPr>
          <p:spPr>
            <a:xfrm>
              <a:off x="45155190" y="24300680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Freeform 298"/>
            <p:cNvSpPr/>
            <p:nvPr/>
          </p:nvSpPr>
          <p:spPr>
            <a:xfrm>
              <a:off x="47306737" y="21718824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Freeform 299"/>
            <p:cNvSpPr/>
            <p:nvPr/>
          </p:nvSpPr>
          <p:spPr>
            <a:xfrm>
              <a:off x="44321466" y="27017007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9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3" y="9"/>
                  </a:lnTo>
                  <a:lnTo>
                    <a:pt x="4" y="9"/>
                  </a:lnTo>
                  <a:lnTo>
                    <a:pt x="4" y="9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Freeform 300"/>
            <p:cNvSpPr/>
            <p:nvPr/>
          </p:nvSpPr>
          <p:spPr>
            <a:xfrm>
              <a:off x="43407059" y="25941234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Freeform 301"/>
            <p:cNvSpPr/>
            <p:nvPr/>
          </p:nvSpPr>
          <p:spPr>
            <a:xfrm>
              <a:off x="45477922" y="24462046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9" y="6"/>
                  </a:lnTo>
                  <a:lnTo>
                    <a:pt x="10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Freeform 302"/>
            <p:cNvSpPr/>
            <p:nvPr/>
          </p:nvSpPr>
          <p:spPr>
            <a:xfrm>
              <a:off x="46284752" y="22902174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Freeform 303"/>
            <p:cNvSpPr/>
            <p:nvPr/>
          </p:nvSpPr>
          <p:spPr>
            <a:xfrm>
              <a:off x="44859353" y="23816582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Freeform 304"/>
            <p:cNvSpPr/>
            <p:nvPr/>
          </p:nvSpPr>
          <p:spPr>
            <a:xfrm>
              <a:off x="43864262" y="24354468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Freeform 305"/>
            <p:cNvSpPr/>
            <p:nvPr/>
          </p:nvSpPr>
          <p:spPr>
            <a:xfrm>
              <a:off x="43487742" y="24273785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9"/>
                  </a:lnTo>
                  <a:lnTo>
                    <a:pt x="7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7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Freeform 306"/>
            <p:cNvSpPr/>
            <p:nvPr/>
          </p:nvSpPr>
          <p:spPr>
            <a:xfrm>
              <a:off x="46553695" y="23090435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Freeform 307"/>
            <p:cNvSpPr/>
            <p:nvPr/>
          </p:nvSpPr>
          <p:spPr>
            <a:xfrm>
              <a:off x="44724881" y="23601427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Freeform 308"/>
            <p:cNvSpPr/>
            <p:nvPr/>
          </p:nvSpPr>
          <p:spPr>
            <a:xfrm>
              <a:off x="42788489" y="26371543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9" y="6"/>
                  </a:lnTo>
                  <a:lnTo>
                    <a:pt x="10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9" y="3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Freeform 309"/>
            <p:cNvSpPr/>
            <p:nvPr/>
          </p:nvSpPr>
          <p:spPr>
            <a:xfrm>
              <a:off x="44160100" y="24408257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Freeform 310"/>
            <p:cNvSpPr/>
            <p:nvPr/>
          </p:nvSpPr>
          <p:spPr>
            <a:xfrm>
              <a:off x="43218798" y="26640486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Freeform 311"/>
            <p:cNvSpPr/>
            <p:nvPr/>
          </p:nvSpPr>
          <p:spPr>
            <a:xfrm>
              <a:off x="46580590" y="21718824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6" y="10"/>
                  </a:lnTo>
                  <a:lnTo>
                    <a:pt x="7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9" y="7"/>
                  </a:lnTo>
                  <a:lnTo>
                    <a:pt x="9" y="6"/>
                  </a:lnTo>
                  <a:lnTo>
                    <a:pt x="10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Freeform 312"/>
            <p:cNvSpPr/>
            <p:nvPr/>
          </p:nvSpPr>
          <p:spPr>
            <a:xfrm>
              <a:off x="45047613" y="23440061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3"/>
                  </a:lnTo>
                  <a:lnTo>
                    <a:pt x="8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Freeform 313"/>
            <p:cNvSpPr/>
            <p:nvPr/>
          </p:nvSpPr>
          <p:spPr>
            <a:xfrm>
              <a:off x="46876427" y="21772612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9"/>
                  </a:lnTo>
                  <a:lnTo>
                    <a:pt x="7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7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Freeform 314"/>
            <p:cNvSpPr/>
            <p:nvPr/>
          </p:nvSpPr>
          <p:spPr>
            <a:xfrm>
              <a:off x="43514636" y="25752973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3"/>
                  </a:lnTo>
                  <a:lnTo>
                    <a:pt x="8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Freeform 315"/>
            <p:cNvSpPr/>
            <p:nvPr/>
          </p:nvSpPr>
          <p:spPr>
            <a:xfrm>
              <a:off x="44402149" y="25645396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Freeform 316"/>
            <p:cNvSpPr/>
            <p:nvPr/>
          </p:nvSpPr>
          <p:spPr>
            <a:xfrm>
              <a:off x="45370345" y="24219997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3" y="9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Freeform 317"/>
            <p:cNvSpPr/>
            <p:nvPr/>
          </p:nvSpPr>
          <p:spPr>
            <a:xfrm>
              <a:off x="43057432" y="27635577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9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3" y="9"/>
                  </a:lnTo>
                  <a:lnTo>
                    <a:pt x="4" y="9"/>
                  </a:lnTo>
                  <a:lnTo>
                    <a:pt x="4" y="9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Freeform 318"/>
            <p:cNvSpPr/>
            <p:nvPr/>
          </p:nvSpPr>
          <p:spPr>
            <a:xfrm>
              <a:off x="45908231" y="23171118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Freeform 319"/>
            <p:cNvSpPr/>
            <p:nvPr/>
          </p:nvSpPr>
          <p:spPr>
            <a:xfrm>
              <a:off x="45155190" y="21799507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7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Freeform 320"/>
            <p:cNvSpPr/>
            <p:nvPr/>
          </p:nvSpPr>
          <p:spPr>
            <a:xfrm>
              <a:off x="44079417" y="27796943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2" name="Freeform 321"/>
            <p:cNvSpPr/>
            <p:nvPr/>
          </p:nvSpPr>
          <p:spPr>
            <a:xfrm>
              <a:off x="44186994" y="25376453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Freeform 322"/>
            <p:cNvSpPr/>
            <p:nvPr/>
          </p:nvSpPr>
          <p:spPr>
            <a:xfrm>
              <a:off x="44213889" y="25860551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Freeform 323"/>
            <p:cNvSpPr/>
            <p:nvPr/>
          </p:nvSpPr>
          <p:spPr>
            <a:xfrm>
              <a:off x="43245693" y="23440061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8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Freeform 324"/>
            <p:cNvSpPr/>
            <p:nvPr/>
          </p:nvSpPr>
          <p:spPr>
            <a:xfrm>
              <a:off x="43514636" y="23924159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Freeform 325"/>
            <p:cNvSpPr/>
            <p:nvPr/>
          </p:nvSpPr>
          <p:spPr>
            <a:xfrm>
              <a:off x="44025628" y="24892355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9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Freeform 326"/>
            <p:cNvSpPr/>
            <p:nvPr/>
          </p:nvSpPr>
          <p:spPr>
            <a:xfrm>
              <a:off x="44106311" y="23924159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Freeform 327"/>
            <p:cNvSpPr/>
            <p:nvPr/>
          </p:nvSpPr>
          <p:spPr>
            <a:xfrm>
              <a:off x="44617304" y="24946144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Freeform 328"/>
            <p:cNvSpPr/>
            <p:nvPr/>
          </p:nvSpPr>
          <p:spPr>
            <a:xfrm>
              <a:off x="42976749" y="24946144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Freeform 329"/>
            <p:cNvSpPr/>
            <p:nvPr/>
          </p:nvSpPr>
          <p:spPr>
            <a:xfrm>
              <a:off x="45370345" y="23870370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4"/>
                  </a:lnTo>
                  <a:lnTo>
                    <a:pt x="9" y="3"/>
                  </a:lnTo>
                  <a:lnTo>
                    <a:pt x="8" y="2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Freeform 330"/>
            <p:cNvSpPr/>
            <p:nvPr/>
          </p:nvSpPr>
          <p:spPr>
            <a:xfrm>
              <a:off x="43326376" y="26290860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3"/>
                  </a:lnTo>
                  <a:lnTo>
                    <a:pt x="8" y="2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Freeform 331"/>
            <p:cNvSpPr/>
            <p:nvPr/>
          </p:nvSpPr>
          <p:spPr>
            <a:xfrm>
              <a:off x="44348360" y="24999932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Freeform 332"/>
            <p:cNvSpPr/>
            <p:nvPr/>
          </p:nvSpPr>
          <p:spPr>
            <a:xfrm>
              <a:off x="42331285" y="26156388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Freeform 333"/>
            <p:cNvSpPr/>
            <p:nvPr/>
          </p:nvSpPr>
          <p:spPr>
            <a:xfrm>
              <a:off x="44482832" y="25268876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5" name="Freeform 334"/>
            <p:cNvSpPr/>
            <p:nvPr/>
          </p:nvSpPr>
          <p:spPr>
            <a:xfrm>
              <a:off x="43003644" y="27662471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Freeform 335"/>
            <p:cNvSpPr/>
            <p:nvPr/>
          </p:nvSpPr>
          <p:spPr>
            <a:xfrm>
              <a:off x="45612394" y="24462046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Freeform 336"/>
            <p:cNvSpPr/>
            <p:nvPr/>
          </p:nvSpPr>
          <p:spPr>
            <a:xfrm>
              <a:off x="45988914" y="24999932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Freeform 337"/>
            <p:cNvSpPr/>
            <p:nvPr/>
          </p:nvSpPr>
          <p:spPr>
            <a:xfrm>
              <a:off x="43218798" y="26398437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5" y="10"/>
                  </a:lnTo>
                  <a:lnTo>
                    <a:pt x="6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9" y="7"/>
                  </a:lnTo>
                  <a:lnTo>
                    <a:pt x="9" y="7"/>
                  </a:lnTo>
                  <a:lnTo>
                    <a:pt x="9" y="6"/>
                  </a:lnTo>
                  <a:lnTo>
                    <a:pt x="10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Freeform 338"/>
            <p:cNvSpPr/>
            <p:nvPr/>
          </p:nvSpPr>
          <p:spPr>
            <a:xfrm>
              <a:off x="43541530" y="24435151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Freeform 339"/>
            <p:cNvSpPr/>
            <p:nvPr/>
          </p:nvSpPr>
          <p:spPr>
            <a:xfrm>
              <a:off x="46096492" y="23574533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Freeform 340"/>
            <p:cNvSpPr/>
            <p:nvPr/>
          </p:nvSpPr>
          <p:spPr>
            <a:xfrm>
              <a:off x="45343451" y="22256710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3"/>
                  </a:lnTo>
                  <a:lnTo>
                    <a:pt x="8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Freeform 341"/>
            <p:cNvSpPr/>
            <p:nvPr/>
          </p:nvSpPr>
          <p:spPr>
            <a:xfrm>
              <a:off x="44590409" y="25053721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Freeform 342"/>
            <p:cNvSpPr/>
            <p:nvPr/>
          </p:nvSpPr>
          <p:spPr>
            <a:xfrm>
              <a:off x="41793399" y="26882535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9" y="7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Freeform 343"/>
            <p:cNvSpPr/>
            <p:nvPr/>
          </p:nvSpPr>
          <p:spPr>
            <a:xfrm>
              <a:off x="41981659" y="26640486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3" y="9"/>
                  </a:lnTo>
                  <a:lnTo>
                    <a:pt x="4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Freeform 344"/>
            <p:cNvSpPr/>
            <p:nvPr/>
          </p:nvSpPr>
          <p:spPr>
            <a:xfrm>
              <a:off x="40717625" y="27474211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Freeform 345"/>
            <p:cNvSpPr/>
            <p:nvPr/>
          </p:nvSpPr>
          <p:spPr>
            <a:xfrm>
              <a:off x="46338541" y="23816582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7" name="Freeform 346"/>
            <p:cNvSpPr/>
            <p:nvPr/>
          </p:nvSpPr>
          <p:spPr>
            <a:xfrm>
              <a:off x="45719971" y="21960873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8" name="Freeform 347"/>
            <p:cNvSpPr/>
            <p:nvPr/>
          </p:nvSpPr>
          <p:spPr>
            <a:xfrm>
              <a:off x="45666182" y="23278695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9" name="Freeform 348"/>
            <p:cNvSpPr/>
            <p:nvPr/>
          </p:nvSpPr>
          <p:spPr>
            <a:xfrm>
              <a:off x="44375255" y="23413167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Freeform 349"/>
            <p:cNvSpPr/>
            <p:nvPr/>
          </p:nvSpPr>
          <p:spPr>
            <a:xfrm>
              <a:off x="47629469" y="23063540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9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1" name="Freeform 350"/>
            <p:cNvSpPr/>
            <p:nvPr/>
          </p:nvSpPr>
          <p:spPr>
            <a:xfrm>
              <a:off x="45585500" y="21907084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9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2" name="Freeform 351"/>
            <p:cNvSpPr/>
            <p:nvPr/>
          </p:nvSpPr>
          <p:spPr>
            <a:xfrm>
              <a:off x="42600229" y="24999932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9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Freeform 352"/>
            <p:cNvSpPr/>
            <p:nvPr/>
          </p:nvSpPr>
          <p:spPr>
            <a:xfrm>
              <a:off x="44321466" y="22929069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Freeform 353"/>
            <p:cNvSpPr/>
            <p:nvPr/>
          </p:nvSpPr>
          <p:spPr>
            <a:xfrm>
              <a:off x="45316556" y="24919249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5" name="Freeform 354"/>
            <p:cNvSpPr/>
            <p:nvPr/>
          </p:nvSpPr>
          <p:spPr>
            <a:xfrm>
              <a:off x="44160100" y="23789687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6" name="Freeform 355"/>
            <p:cNvSpPr/>
            <p:nvPr/>
          </p:nvSpPr>
          <p:spPr>
            <a:xfrm>
              <a:off x="43057432" y="25564713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Freeform 356"/>
            <p:cNvSpPr/>
            <p:nvPr/>
          </p:nvSpPr>
          <p:spPr>
            <a:xfrm>
              <a:off x="46688167" y="23090435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Freeform 357"/>
            <p:cNvSpPr/>
            <p:nvPr/>
          </p:nvSpPr>
          <p:spPr>
            <a:xfrm>
              <a:off x="46768850" y="21691929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9" name="Freeform 358"/>
            <p:cNvSpPr/>
            <p:nvPr/>
          </p:nvSpPr>
          <p:spPr>
            <a:xfrm>
              <a:off x="44321466" y="24973038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Freeform 359"/>
            <p:cNvSpPr/>
            <p:nvPr/>
          </p:nvSpPr>
          <p:spPr>
            <a:xfrm>
              <a:off x="45074507" y="23332484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1" name="Freeform 360"/>
            <p:cNvSpPr/>
            <p:nvPr/>
          </p:nvSpPr>
          <p:spPr>
            <a:xfrm>
              <a:off x="45639288" y="22552548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9" y="6"/>
                  </a:lnTo>
                  <a:lnTo>
                    <a:pt x="10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2" name="Freeform 361"/>
            <p:cNvSpPr/>
            <p:nvPr/>
          </p:nvSpPr>
          <p:spPr>
            <a:xfrm>
              <a:off x="44644198" y="21369197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Freeform 362"/>
            <p:cNvSpPr/>
            <p:nvPr/>
          </p:nvSpPr>
          <p:spPr>
            <a:xfrm>
              <a:off x="44644198" y="21799507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9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4" name="Freeform 363"/>
            <p:cNvSpPr/>
            <p:nvPr/>
          </p:nvSpPr>
          <p:spPr>
            <a:xfrm>
              <a:off x="42654017" y="24650306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9"/>
                  </a:lnTo>
                  <a:lnTo>
                    <a:pt x="7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7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" name="Freeform 364"/>
            <p:cNvSpPr/>
            <p:nvPr/>
          </p:nvSpPr>
          <p:spPr>
            <a:xfrm>
              <a:off x="43165010" y="24246891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6" name="Freeform 365"/>
            <p:cNvSpPr/>
            <p:nvPr/>
          </p:nvSpPr>
          <p:spPr>
            <a:xfrm>
              <a:off x="47145371" y="20239636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Freeform 366"/>
            <p:cNvSpPr/>
            <p:nvPr/>
          </p:nvSpPr>
          <p:spPr>
            <a:xfrm>
              <a:off x="45719971" y="22525654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9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" name="Freeform 367"/>
            <p:cNvSpPr/>
            <p:nvPr/>
          </p:nvSpPr>
          <p:spPr>
            <a:xfrm>
              <a:off x="45908231" y="22256710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7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9" name="Freeform 368"/>
            <p:cNvSpPr/>
            <p:nvPr/>
          </p:nvSpPr>
          <p:spPr>
            <a:xfrm>
              <a:off x="43729791" y="25080615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0" name="Freeform 369"/>
            <p:cNvSpPr/>
            <p:nvPr/>
          </p:nvSpPr>
          <p:spPr>
            <a:xfrm>
              <a:off x="48167355" y="19782432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1" name="Freeform 370"/>
            <p:cNvSpPr/>
            <p:nvPr/>
          </p:nvSpPr>
          <p:spPr>
            <a:xfrm>
              <a:off x="44267677" y="26640486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9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" name="Freeform 371"/>
            <p:cNvSpPr/>
            <p:nvPr/>
          </p:nvSpPr>
          <p:spPr>
            <a:xfrm>
              <a:off x="42815383" y="26586698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3"/>
                  </a:lnTo>
                  <a:lnTo>
                    <a:pt x="8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" name="Freeform 372"/>
            <p:cNvSpPr/>
            <p:nvPr/>
          </p:nvSpPr>
          <p:spPr>
            <a:xfrm>
              <a:off x="41927870" y="26237071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4" name="Freeform 373"/>
            <p:cNvSpPr/>
            <p:nvPr/>
          </p:nvSpPr>
          <p:spPr>
            <a:xfrm>
              <a:off x="44644198" y="25322664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6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9" y="7"/>
                  </a:lnTo>
                  <a:lnTo>
                    <a:pt x="9" y="7"/>
                  </a:lnTo>
                  <a:lnTo>
                    <a:pt x="9" y="6"/>
                  </a:lnTo>
                  <a:lnTo>
                    <a:pt x="10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5" name="Freeform 374"/>
            <p:cNvSpPr/>
            <p:nvPr/>
          </p:nvSpPr>
          <p:spPr>
            <a:xfrm>
              <a:off x="41228618" y="24946144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9" y="6"/>
                  </a:lnTo>
                  <a:lnTo>
                    <a:pt x="10" y="5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3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" name="Freeform 375"/>
            <p:cNvSpPr/>
            <p:nvPr/>
          </p:nvSpPr>
          <p:spPr>
            <a:xfrm>
              <a:off x="45074507" y="25188193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" name="Freeform 376"/>
            <p:cNvSpPr/>
            <p:nvPr/>
          </p:nvSpPr>
          <p:spPr>
            <a:xfrm>
              <a:off x="44294572" y="24435151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8" name="Freeform 377"/>
            <p:cNvSpPr/>
            <p:nvPr/>
          </p:nvSpPr>
          <p:spPr>
            <a:xfrm>
              <a:off x="46795744" y="22848386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3"/>
                  </a:lnTo>
                  <a:lnTo>
                    <a:pt x="8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" name="Freeform 378"/>
            <p:cNvSpPr/>
            <p:nvPr/>
          </p:nvSpPr>
          <p:spPr>
            <a:xfrm>
              <a:off x="43111221" y="25699185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" name="Freeform 379"/>
            <p:cNvSpPr/>
            <p:nvPr/>
          </p:nvSpPr>
          <p:spPr>
            <a:xfrm>
              <a:off x="45424134" y="24892355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1" name="Freeform 380"/>
            <p:cNvSpPr/>
            <p:nvPr/>
          </p:nvSpPr>
          <p:spPr>
            <a:xfrm>
              <a:off x="44617304" y="23816582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2" name="Freeform 381"/>
            <p:cNvSpPr/>
            <p:nvPr/>
          </p:nvSpPr>
          <p:spPr>
            <a:xfrm>
              <a:off x="42385074" y="27743154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9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3" name="Freeform 382"/>
            <p:cNvSpPr/>
            <p:nvPr/>
          </p:nvSpPr>
          <p:spPr>
            <a:xfrm>
              <a:off x="45182085" y="25968128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9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3" y="9"/>
                  </a:lnTo>
                  <a:lnTo>
                    <a:pt x="4" y="9"/>
                  </a:lnTo>
                  <a:lnTo>
                    <a:pt x="4" y="9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4" name="Freeform 383"/>
            <p:cNvSpPr/>
            <p:nvPr/>
          </p:nvSpPr>
          <p:spPr>
            <a:xfrm>
              <a:off x="45289662" y="25215087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5" name="Freeform 384"/>
            <p:cNvSpPr/>
            <p:nvPr/>
          </p:nvSpPr>
          <p:spPr>
            <a:xfrm>
              <a:off x="43944945" y="24892355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9"/>
                  </a:lnTo>
                  <a:lnTo>
                    <a:pt x="7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6" name="Freeform 385"/>
            <p:cNvSpPr/>
            <p:nvPr/>
          </p:nvSpPr>
          <p:spPr>
            <a:xfrm>
              <a:off x="46069597" y="22444971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7" name="Freeform 386"/>
            <p:cNvSpPr/>
            <p:nvPr/>
          </p:nvSpPr>
          <p:spPr>
            <a:xfrm>
              <a:off x="45558605" y="24838566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9" y="6"/>
                  </a:lnTo>
                  <a:lnTo>
                    <a:pt x="10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8" name="Freeform 387"/>
            <p:cNvSpPr/>
            <p:nvPr/>
          </p:nvSpPr>
          <p:spPr>
            <a:xfrm>
              <a:off x="44240783" y="25484030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9" name="Freeform 388"/>
            <p:cNvSpPr/>
            <p:nvPr/>
          </p:nvSpPr>
          <p:spPr>
            <a:xfrm>
              <a:off x="45800654" y="21987767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0" name="Freeform 389"/>
            <p:cNvSpPr/>
            <p:nvPr/>
          </p:nvSpPr>
          <p:spPr>
            <a:xfrm>
              <a:off x="44563515" y="23009752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1" name="Freeform 390"/>
            <p:cNvSpPr/>
            <p:nvPr/>
          </p:nvSpPr>
          <p:spPr>
            <a:xfrm>
              <a:off x="44025628" y="25457136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2" name="Freeform 391"/>
            <p:cNvSpPr/>
            <p:nvPr/>
          </p:nvSpPr>
          <p:spPr>
            <a:xfrm>
              <a:off x="42680912" y="25806762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3" name="Freeform 392"/>
            <p:cNvSpPr/>
            <p:nvPr/>
          </p:nvSpPr>
          <p:spPr>
            <a:xfrm>
              <a:off x="44079417" y="23171118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4" name="Freeform 393"/>
            <p:cNvSpPr/>
            <p:nvPr/>
          </p:nvSpPr>
          <p:spPr>
            <a:xfrm>
              <a:off x="46150280" y="22633231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5" name="Freeform 394"/>
            <p:cNvSpPr/>
            <p:nvPr/>
          </p:nvSpPr>
          <p:spPr>
            <a:xfrm>
              <a:off x="45128296" y="23655216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9" y="7"/>
                  </a:lnTo>
                  <a:lnTo>
                    <a:pt x="9" y="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6" name="Freeform 395"/>
            <p:cNvSpPr/>
            <p:nvPr/>
          </p:nvSpPr>
          <p:spPr>
            <a:xfrm>
              <a:off x="42358180" y="24273785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7" name="Freeform 396"/>
            <p:cNvSpPr/>
            <p:nvPr/>
          </p:nvSpPr>
          <p:spPr>
            <a:xfrm>
              <a:off x="46042703" y="24246891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8" name="Freeform 397"/>
            <p:cNvSpPr/>
            <p:nvPr/>
          </p:nvSpPr>
          <p:spPr>
            <a:xfrm>
              <a:off x="42949855" y="27554894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9" name="Freeform 398"/>
            <p:cNvSpPr/>
            <p:nvPr/>
          </p:nvSpPr>
          <p:spPr>
            <a:xfrm>
              <a:off x="44240783" y="24596517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8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0" name="Freeform 399"/>
            <p:cNvSpPr/>
            <p:nvPr/>
          </p:nvSpPr>
          <p:spPr>
            <a:xfrm>
              <a:off x="44052523" y="23090435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1" name="Freeform 400"/>
            <p:cNvSpPr/>
            <p:nvPr/>
          </p:nvSpPr>
          <p:spPr>
            <a:xfrm>
              <a:off x="44160100" y="24677200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9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2" name="Freeform 401"/>
            <p:cNvSpPr/>
            <p:nvPr/>
          </p:nvSpPr>
          <p:spPr>
            <a:xfrm>
              <a:off x="44805564" y="24784778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9" y="8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3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3" name="Freeform 402"/>
            <p:cNvSpPr/>
            <p:nvPr/>
          </p:nvSpPr>
          <p:spPr>
            <a:xfrm>
              <a:off x="44455938" y="23332484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9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4" name="Freeform 403"/>
            <p:cNvSpPr/>
            <p:nvPr/>
          </p:nvSpPr>
          <p:spPr>
            <a:xfrm>
              <a:off x="44133206" y="25188193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5" name="Freeform 404"/>
            <p:cNvSpPr/>
            <p:nvPr/>
          </p:nvSpPr>
          <p:spPr>
            <a:xfrm>
              <a:off x="44563515" y="24435151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9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6" name="Freeform 405"/>
            <p:cNvSpPr/>
            <p:nvPr/>
          </p:nvSpPr>
          <p:spPr>
            <a:xfrm>
              <a:off x="46204069" y="23440061"/>
              <a:ext cx="268943" cy="268943"/>
            </a:xfrm>
            <a:custGeom>
              <a:avLst/>
              <a:gdLst/>
              <a:ahLst/>
              <a:cxnLst/>
              <a:rect l="l" t="t" r="r" b="b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7" y="10"/>
                  </a:lnTo>
                  <a:lnTo>
                    <a:pt x="7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78909C">
                <a:alpha val="85000"/>
              </a:srgbClr>
            </a:solidFill>
            <a:ln w="59167">
              <a:solidFill>
                <a:srgbClr val="263238">
                  <a:alpha val="85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7" name="Freeform 406"/>
            <p:cNvSpPr/>
            <p:nvPr/>
          </p:nvSpPr>
          <p:spPr>
            <a:xfrm>
              <a:off x="41954765" y="28334829"/>
              <a:ext cx="0" cy="215155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8" name="TextBox 407"/>
            <p:cNvSpPr txBox="1"/>
            <p:nvPr/>
          </p:nvSpPr>
          <p:spPr>
            <a:xfrm>
              <a:off x="41380087" y="28499681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−2</a:t>
              </a:r>
            </a:p>
          </p:txBody>
        </p:sp>
        <p:sp>
          <p:nvSpPr>
            <p:cNvPr id="409" name="Freeform 408"/>
            <p:cNvSpPr/>
            <p:nvPr/>
          </p:nvSpPr>
          <p:spPr>
            <a:xfrm>
              <a:off x="44778670" y="28334829"/>
              <a:ext cx="0" cy="215155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0" name="TextBox 409"/>
            <p:cNvSpPr txBox="1"/>
            <p:nvPr/>
          </p:nvSpPr>
          <p:spPr>
            <a:xfrm>
              <a:off x="44209231" y="28499681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</a:t>
              </a:r>
            </a:p>
          </p:txBody>
        </p:sp>
        <p:sp>
          <p:nvSpPr>
            <p:cNvPr id="411" name="Freeform 410"/>
            <p:cNvSpPr/>
            <p:nvPr/>
          </p:nvSpPr>
          <p:spPr>
            <a:xfrm>
              <a:off x="47629469" y="28334829"/>
              <a:ext cx="0" cy="215155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2" name="TextBox 411"/>
            <p:cNvSpPr txBox="1"/>
            <p:nvPr/>
          </p:nvSpPr>
          <p:spPr>
            <a:xfrm>
              <a:off x="47038375" y="28499681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2</a:t>
              </a:r>
            </a:p>
          </p:txBody>
        </p:sp>
        <p:sp>
          <p:nvSpPr>
            <p:cNvPr id="413" name="TextBox 412"/>
            <p:cNvSpPr txBox="1"/>
            <p:nvPr/>
          </p:nvSpPr>
          <p:spPr>
            <a:xfrm>
              <a:off x="41652721" y="29163706"/>
              <a:ext cx="6271260" cy="9753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000" i="1" b="0">
                  <a:solidFill>
                    <a:srgbClr val="000000"/>
                  </a:solidFill>
                  <a:latin typeface="Calibri"/>
                </a:rPr>
                <a:t>Predicted RMSD</a:t>
              </a:r>
            </a:p>
          </p:txBody>
        </p:sp>
        <p:sp>
          <p:nvSpPr>
            <p:cNvPr id="414" name="Freeform 413"/>
            <p:cNvSpPr/>
            <p:nvPr/>
          </p:nvSpPr>
          <p:spPr>
            <a:xfrm>
              <a:off x="40421788" y="28227252"/>
              <a:ext cx="8713763" cy="0"/>
            </a:xfrm>
            <a:custGeom>
              <a:avLst/>
              <a:gdLst/>
              <a:ahLst/>
              <a:cxnLst/>
              <a:rect l="l" t="t" r="r" b="b"/>
              <a:pathLst>
                <a:path w="324" h="0">
                  <a:moveTo>
                    <a:pt x="0" y="0"/>
                  </a:moveTo>
                  <a:lnTo>
                    <a:pt x="324" y="0"/>
                  </a:lnTo>
                </a:path>
              </a:pathLst>
            </a:custGeom>
            <a:noFill/>
            <a:ln w="53788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5" name="Freeform 414"/>
            <p:cNvSpPr/>
            <p:nvPr/>
          </p:nvSpPr>
          <p:spPr>
            <a:xfrm>
              <a:off x="40206633" y="28227252"/>
              <a:ext cx="215155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6" name="TextBox 415"/>
            <p:cNvSpPr txBox="1"/>
            <p:nvPr/>
          </p:nvSpPr>
          <p:spPr>
            <a:xfrm>
              <a:off x="38963945" y="27871936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−2</a:t>
              </a:r>
            </a:p>
          </p:txBody>
        </p:sp>
        <p:sp>
          <p:nvSpPr>
            <p:cNvPr id="417" name="Freeform 416"/>
            <p:cNvSpPr/>
            <p:nvPr/>
          </p:nvSpPr>
          <p:spPr>
            <a:xfrm>
              <a:off x="40421788" y="24488940"/>
              <a:ext cx="8713763" cy="0"/>
            </a:xfrm>
            <a:custGeom>
              <a:avLst/>
              <a:gdLst/>
              <a:ahLst/>
              <a:cxnLst/>
              <a:rect l="l" t="t" r="r" b="b"/>
              <a:pathLst>
                <a:path w="324" h="0">
                  <a:moveTo>
                    <a:pt x="0" y="0"/>
                  </a:moveTo>
                  <a:lnTo>
                    <a:pt x="324" y="0"/>
                  </a:lnTo>
                </a:path>
              </a:pathLst>
            </a:custGeom>
            <a:noFill/>
            <a:ln w="53788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8" name="Freeform 417"/>
            <p:cNvSpPr/>
            <p:nvPr/>
          </p:nvSpPr>
          <p:spPr>
            <a:xfrm>
              <a:off x="40206633" y="24488940"/>
              <a:ext cx="215155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9" name="TextBox 418"/>
            <p:cNvSpPr txBox="1"/>
            <p:nvPr/>
          </p:nvSpPr>
          <p:spPr>
            <a:xfrm>
              <a:off x="38963945" y="24110451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</a:t>
              </a:r>
            </a:p>
          </p:txBody>
        </p:sp>
        <p:sp>
          <p:nvSpPr>
            <p:cNvPr id="420" name="Freeform 419"/>
            <p:cNvSpPr/>
            <p:nvPr/>
          </p:nvSpPr>
          <p:spPr>
            <a:xfrm>
              <a:off x="40421788" y="20723733"/>
              <a:ext cx="8713763" cy="0"/>
            </a:xfrm>
            <a:custGeom>
              <a:avLst/>
              <a:gdLst/>
              <a:ahLst/>
              <a:cxnLst/>
              <a:rect l="l" t="t" r="r" b="b"/>
              <a:pathLst>
                <a:path w="324" h="0">
                  <a:moveTo>
                    <a:pt x="0" y="0"/>
                  </a:moveTo>
                  <a:lnTo>
                    <a:pt x="324" y="0"/>
                  </a:lnTo>
                </a:path>
              </a:pathLst>
            </a:custGeom>
            <a:noFill/>
            <a:ln w="53788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1" name="Freeform 420"/>
            <p:cNvSpPr/>
            <p:nvPr/>
          </p:nvSpPr>
          <p:spPr>
            <a:xfrm>
              <a:off x="40206633" y="20723733"/>
              <a:ext cx="215155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2" name="TextBox 421"/>
            <p:cNvSpPr txBox="1"/>
            <p:nvPr/>
          </p:nvSpPr>
          <p:spPr>
            <a:xfrm>
              <a:off x="38963945" y="20348965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2</a:t>
              </a: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38630640" y="20998169"/>
              <a:ext cx="975360" cy="5836920"/>
            </a:xfrm>
            <a:prstGeom prst="rect">
              <a:avLst/>
            </a:prstGeom>
            <a:noFill/>
          </p:spPr>
          <p:txBody>
            <a:bodyPr wrap="none" lIns="0" rIns="0" tIns="0" bIns="0" anchor="ctr" vert="vert27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000" i="1" b="0">
                  <a:solidFill>
                    <a:srgbClr val="000000"/>
                  </a:solidFill>
                  <a:latin typeface="Calibri"/>
                </a:rPr>
                <a:t>Observed RMSD</a:t>
              </a:r>
            </a:p>
          </p:txBody>
        </p:sp>
        <p:sp>
          <p:nvSpPr>
            <p:cNvPr id="424" name="Freeform 423"/>
            <p:cNvSpPr/>
            <p:nvPr/>
          </p:nvSpPr>
          <p:spPr>
            <a:xfrm>
              <a:off x="40825203" y="21046465"/>
              <a:ext cx="7933828" cy="6669794"/>
            </a:xfrm>
            <a:custGeom>
              <a:avLst/>
              <a:gdLst/>
              <a:ahLst/>
              <a:cxnLst/>
              <a:rect l="l" t="t" r="r" b="b"/>
              <a:pathLst>
                <a:path w="295" h="248">
                  <a:moveTo>
                    <a:pt x="0" y="248"/>
                  </a:moveTo>
                  <a:lnTo>
                    <a:pt x="4" y="245"/>
                  </a:lnTo>
                  <a:lnTo>
                    <a:pt x="8" y="242"/>
                  </a:lnTo>
                  <a:lnTo>
                    <a:pt x="11" y="239"/>
                  </a:lnTo>
                  <a:lnTo>
                    <a:pt x="15" y="236"/>
                  </a:lnTo>
                  <a:lnTo>
                    <a:pt x="19" y="233"/>
                  </a:lnTo>
                  <a:lnTo>
                    <a:pt x="22" y="230"/>
                  </a:lnTo>
                  <a:lnTo>
                    <a:pt x="26" y="226"/>
                  </a:lnTo>
                  <a:lnTo>
                    <a:pt x="30" y="223"/>
                  </a:lnTo>
                  <a:lnTo>
                    <a:pt x="34" y="220"/>
                  </a:lnTo>
                  <a:lnTo>
                    <a:pt x="37" y="217"/>
                  </a:lnTo>
                  <a:lnTo>
                    <a:pt x="41" y="214"/>
                  </a:lnTo>
                  <a:lnTo>
                    <a:pt x="45" y="211"/>
                  </a:lnTo>
                  <a:lnTo>
                    <a:pt x="49" y="208"/>
                  </a:lnTo>
                  <a:lnTo>
                    <a:pt x="52" y="204"/>
                  </a:lnTo>
                  <a:lnTo>
                    <a:pt x="56" y="201"/>
                  </a:lnTo>
                  <a:lnTo>
                    <a:pt x="60" y="198"/>
                  </a:lnTo>
                  <a:lnTo>
                    <a:pt x="63" y="195"/>
                  </a:lnTo>
                  <a:lnTo>
                    <a:pt x="67" y="192"/>
                  </a:lnTo>
                  <a:lnTo>
                    <a:pt x="71" y="189"/>
                  </a:lnTo>
                  <a:lnTo>
                    <a:pt x="75" y="186"/>
                  </a:lnTo>
                  <a:lnTo>
                    <a:pt x="78" y="182"/>
                  </a:lnTo>
                  <a:lnTo>
                    <a:pt x="82" y="179"/>
                  </a:lnTo>
                  <a:lnTo>
                    <a:pt x="86" y="176"/>
                  </a:lnTo>
                  <a:lnTo>
                    <a:pt x="90" y="173"/>
                  </a:lnTo>
                  <a:lnTo>
                    <a:pt x="93" y="170"/>
                  </a:lnTo>
                  <a:lnTo>
                    <a:pt x="97" y="167"/>
                  </a:lnTo>
                  <a:lnTo>
                    <a:pt x="101" y="164"/>
                  </a:lnTo>
                  <a:lnTo>
                    <a:pt x="104" y="160"/>
                  </a:lnTo>
                  <a:lnTo>
                    <a:pt x="108" y="157"/>
                  </a:lnTo>
                  <a:lnTo>
                    <a:pt x="112" y="154"/>
                  </a:lnTo>
                  <a:lnTo>
                    <a:pt x="116" y="151"/>
                  </a:lnTo>
                  <a:lnTo>
                    <a:pt x="119" y="148"/>
                  </a:lnTo>
                  <a:lnTo>
                    <a:pt x="123" y="145"/>
                  </a:lnTo>
                  <a:lnTo>
                    <a:pt x="127" y="142"/>
                  </a:lnTo>
                  <a:lnTo>
                    <a:pt x="131" y="138"/>
                  </a:lnTo>
                  <a:lnTo>
                    <a:pt x="134" y="135"/>
                  </a:lnTo>
                  <a:lnTo>
                    <a:pt x="138" y="132"/>
                  </a:lnTo>
                  <a:lnTo>
                    <a:pt x="142" y="129"/>
                  </a:lnTo>
                  <a:lnTo>
                    <a:pt x="145" y="126"/>
                  </a:lnTo>
                  <a:lnTo>
                    <a:pt x="149" y="123"/>
                  </a:lnTo>
                  <a:lnTo>
                    <a:pt x="153" y="120"/>
                  </a:lnTo>
                  <a:lnTo>
                    <a:pt x="157" y="116"/>
                  </a:lnTo>
                  <a:lnTo>
                    <a:pt x="160" y="113"/>
                  </a:lnTo>
                  <a:lnTo>
                    <a:pt x="164" y="110"/>
                  </a:lnTo>
                  <a:lnTo>
                    <a:pt x="168" y="107"/>
                  </a:lnTo>
                  <a:lnTo>
                    <a:pt x="172" y="104"/>
                  </a:lnTo>
                  <a:lnTo>
                    <a:pt x="175" y="101"/>
                  </a:lnTo>
                  <a:lnTo>
                    <a:pt x="179" y="98"/>
                  </a:lnTo>
                  <a:lnTo>
                    <a:pt x="183" y="94"/>
                  </a:lnTo>
                  <a:lnTo>
                    <a:pt x="187" y="91"/>
                  </a:lnTo>
                  <a:lnTo>
                    <a:pt x="190" y="88"/>
                  </a:lnTo>
                  <a:lnTo>
                    <a:pt x="194" y="85"/>
                  </a:lnTo>
                  <a:lnTo>
                    <a:pt x="198" y="82"/>
                  </a:lnTo>
                  <a:lnTo>
                    <a:pt x="201" y="79"/>
                  </a:lnTo>
                  <a:lnTo>
                    <a:pt x="205" y="75"/>
                  </a:lnTo>
                  <a:lnTo>
                    <a:pt x="209" y="72"/>
                  </a:lnTo>
                  <a:lnTo>
                    <a:pt x="213" y="69"/>
                  </a:lnTo>
                  <a:lnTo>
                    <a:pt x="216" y="66"/>
                  </a:lnTo>
                  <a:lnTo>
                    <a:pt x="220" y="63"/>
                  </a:lnTo>
                  <a:lnTo>
                    <a:pt x="224" y="60"/>
                  </a:lnTo>
                  <a:lnTo>
                    <a:pt x="228" y="57"/>
                  </a:lnTo>
                  <a:lnTo>
                    <a:pt x="231" y="53"/>
                  </a:lnTo>
                  <a:lnTo>
                    <a:pt x="235" y="50"/>
                  </a:lnTo>
                  <a:lnTo>
                    <a:pt x="239" y="47"/>
                  </a:lnTo>
                  <a:lnTo>
                    <a:pt x="242" y="44"/>
                  </a:lnTo>
                  <a:lnTo>
                    <a:pt x="246" y="41"/>
                  </a:lnTo>
                  <a:lnTo>
                    <a:pt x="250" y="38"/>
                  </a:lnTo>
                  <a:lnTo>
                    <a:pt x="254" y="35"/>
                  </a:lnTo>
                  <a:lnTo>
                    <a:pt x="257" y="31"/>
                  </a:lnTo>
                  <a:lnTo>
                    <a:pt x="261" y="28"/>
                  </a:lnTo>
                  <a:lnTo>
                    <a:pt x="265" y="25"/>
                  </a:lnTo>
                  <a:lnTo>
                    <a:pt x="269" y="22"/>
                  </a:lnTo>
                  <a:lnTo>
                    <a:pt x="272" y="19"/>
                  </a:lnTo>
                  <a:lnTo>
                    <a:pt x="276" y="16"/>
                  </a:lnTo>
                  <a:lnTo>
                    <a:pt x="280" y="13"/>
                  </a:lnTo>
                  <a:lnTo>
                    <a:pt x="283" y="9"/>
                  </a:lnTo>
                  <a:lnTo>
                    <a:pt x="287" y="6"/>
                  </a:lnTo>
                  <a:lnTo>
                    <a:pt x="291" y="3"/>
                  </a:lnTo>
                  <a:lnTo>
                    <a:pt x="295" y="0"/>
                  </a:lnTo>
                </a:path>
              </a:pathLst>
            </a:custGeom>
            <a:noFill/>
            <a:ln w="107577">
              <a:solidFill>
                <a:srgbClr val="F443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5" name="Freeform 424"/>
            <p:cNvSpPr/>
            <p:nvPr/>
          </p:nvSpPr>
          <p:spPr>
            <a:xfrm>
              <a:off x="40421788" y="19513489"/>
              <a:ext cx="0" cy="8821341"/>
            </a:xfrm>
            <a:custGeom>
              <a:avLst/>
              <a:gdLst/>
              <a:ahLst/>
              <a:cxnLst/>
              <a:rect l="l" t="t" r="r" b="b"/>
              <a:pathLst>
                <a:path w="0" h="328">
                  <a:moveTo>
                    <a:pt x="0" y="328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" name="Freeform 425"/>
            <p:cNvSpPr/>
            <p:nvPr/>
          </p:nvSpPr>
          <p:spPr>
            <a:xfrm>
              <a:off x="40421788" y="28334829"/>
              <a:ext cx="8713763" cy="0"/>
            </a:xfrm>
            <a:custGeom>
              <a:avLst/>
              <a:gdLst/>
              <a:ahLst/>
              <a:cxnLst/>
              <a:rect l="l" t="t" r="r" b="b"/>
              <a:pathLst>
                <a:path w="324" h="0">
                  <a:moveTo>
                    <a:pt x="0" y="0"/>
                  </a:moveTo>
                  <a:lnTo>
                    <a:pt x="324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38125009" y="17874976"/>
              <a:ext cx="11244580" cy="1235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7600" i="1" b="1">
                  <a:solidFill>
                    <a:srgbClr val="000000"/>
                  </a:solidFill>
                  <a:latin typeface="Calibri"/>
                </a:rPr>
                <a:t>f. RMSD relationship</a:t>
              </a:r>
            </a:p>
          </p:txBody>
        </p:sp>
      </p:grpSp>
      <p:grpSp>
        <p:nvGrpSpPr>
          <p:cNvPr id="519" name="Editable SVG panel 07: panel-07"/>
          <p:cNvGrpSpPr/>
          <p:nvPr/>
        </p:nvGrpSpPr>
        <p:grpSpPr>
          <a:xfrm>
            <a:off x="1828800" y="32628839"/>
            <a:ext cx="15275433" cy="12059553"/>
            <a:chOff x="1828800" y="32628839"/>
            <a:chExt cx="15275433" cy="12059553"/>
          </a:xfrm>
        </p:grpSpPr>
        <p:sp>
          <p:nvSpPr>
            <p:cNvPr id="429" name="Panel layout anchor: panel-07"/>
            <p:cNvSpPr/>
            <p:nvPr/>
          </p:nvSpPr>
          <p:spPr>
            <a:xfrm>
              <a:off x="1828800" y="32628839"/>
              <a:ext cx="15275433" cy="1205955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0" name="Freeform 429"/>
            <p:cNvSpPr/>
            <p:nvPr/>
          </p:nvSpPr>
          <p:spPr>
            <a:xfrm>
              <a:off x="1828800" y="32628840"/>
              <a:ext cx="15269850" cy="12059552"/>
            </a:xfrm>
            <a:custGeom>
              <a:avLst/>
              <a:gdLst/>
              <a:ahLst/>
              <a:cxnLst/>
              <a:rect l="l" t="t" r="r" b="b"/>
              <a:pathLst>
                <a:path w="547" h="432">
                  <a:moveTo>
                    <a:pt x="0" y="432"/>
                  </a:moveTo>
                  <a:lnTo>
                    <a:pt x="547" y="432"/>
                  </a:lnTo>
                  <a:lnTo>
                    <a:pt x="547" y="0"/>
                  </a:lnTo>
                  <a:lnTo>
                    <a:pt x="0" y="0"/>
                  </a:lnTo>
                  <a:lnTo>
                    <a:pt x="0" y="432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1" name="Freeform 430"/>
            <p:cNvSpPr/>
            <p:nvPr/>
          </p:nvSpPr>
          <p:spPr>
            <a:xfrm>
              <a:off x="4285375" y="34555019"/>
              <a:ext cx="8570099" cy="5555210"/>
            </a:xfrm>
            <a:custGeom>
              <a:avLst/>
              <a:gdLst/>
              <a:ahLst/>
              <a:cxnLst/>
              <a:rect l="l" t="t" r="r" b="b"/>
              <a:pathLst>
                <a:path w="307" h="199">
                  <a:moveTo>
                    <a:pt x="0" y="199"/>
                  </a:moveTo>
                  <a:lnTo>
                    <a:pt x="307" y="199"/>
                  </a:lnTo>
                  <a:lnTo>
                    <a:pt x="307" y="0"/>
                  </a:lnTo>
                  <a:lnTo>
                    <a:pt x="0" y="0"/>
                  </a:lnTo>
                  <a:lnTo>
                    <a:pt x="0" y="199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2" name="Freeform 431"/>
            <p:cNvSpPr/>
            <p:nvPr/>
          </p:nvSpPr>
          <p:spPr>
            <a:xfrm>
              <a:off x="4285375" y="39189013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67001F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3" name="Freeform 432"/>
            <p:cNvSpPr/>
            <p:nvPr/>
          </p:nvSpPr>
          <p:spPr>
            <a:xfrm>
              <a:off x="5709073" y="39189013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CA4842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4" name="Freeform 433"/>
            <p:cNvSpPr/>
            <p:nvPr/>
          </p:nvSpPr>
          <p:spPr>
            <a:xfrm>
              <a:off x="7132770" y="39189013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F7B799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5" name="Freeform 434"/>
            <p:cNvSpPr/>
            <p:nvPr/>
          </p:nvSpPr>
          <p:spPr>
            <a:xfrm>
              <a:off x="8556467" y="39189013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53061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6" name="Freeform 435"/>
            <p:cNvSpPr/>
            <p:nvPr/>
          </p:nvSpPr>
          <p:spPr>
            <a:xfrm>
              <a:off x="9980164" y="39189013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3884BB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7" name="Freeform 436"/>
            <p:cNvSpPr/>
            <p:nvPr/>
          </p:nvSpPr>
          <p:spPr>
            <a:xfrm>
              <a:off x="11403861" y="39189013"/>
              <a:ext cx="1451613" cy="921216"/>
            </a:xfrm>
            <a:custGeom>
              <a:avLst/>
              <a:gdLst/>
              <a:ahLst/>
              <a:cxnLst/>
              <a:rect l="l" t="t" r="r" b="b"/>
              <a:pathLst>
                <a:path w="52" h="33">
                  <a:moveTo>
                    <a:pt x="0" y="33"/>
                  </a:moveTo>
                  <a:lnTo>
                    <a:pt x="52" y="33"/>
                  </a:lnTo>
                  <a:lnTo>
                    <a:pt x="52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F7F7F7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8" name="Freeform 437"/>
            <p:cNvSpPr/>
            <p:nvPr/>
          </p:nvSpPr>
          <p:spPr>
            <a:xfrm>
              <a:off x="4285375" y="38267797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CA4842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9" name="Freeform 438"/>
            <p:cNvSpPr/>
            <p:nvPr/>
          </p:nvSpPr>
          <p:spPr>
            <a:xfrm>
              <a:off x="5709073" y="38267797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67001F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0" name="Freeform 439"/>
            <p:cNvSpPr/>
            <p:nvPr/>
          </p:nvSpPr>
          <p:spPr>
            <a:xfrm>
              <a:off x="7132770" y="38267797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67001F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1" name="Freeform 440"/>
            <p:cNvSpPr/>
            <p:nvPr/>
          </p:nvSpPr>
          <p:spPr>
            <a:xfrm>
              <a:off x="8556467" y="38267797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3884BB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2" name="Freeform 441"/>
            <p:cNvSpPr/>
            <p:nvPr/>
          </p:nvSpPr>
          <p:spPr>
            <a:xfrm>
              <a:off x="9980164" y="38267797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A7D0E4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3" name="Freeform 442"/>
            <p:cNvSpPr/>
            <p:nvPr/>
          </p:nvSpPr>
          <p:spPr>
            <a:xfrm>
              <a:off x="11403861" y="38267797"/>
              <a:ext cx="1451613" cy="921216"/>
            </a:xfrm>
            <a:custGeom>
              <a:avLst/>
              <a:gdLst/>
              <a:ahLst/>
              <a:cxnLst/>
              <a:rect l="l" t="t" r="r" b="b"/>
              <a:pathLst>
                <a:path w="52" h="33">
                  <a:moveTo>
                    <a:pt x="0" y="33"/>
                  </a:moveTo>
                  <a:lnTo>
                    <a:pt x="52" y="33"/>
                  </a:lnTo>
                  <a:lnTo>
                    <a:pt x="52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A7D0E4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4" name="Freeform 443"/>
            <p:cNvSpPr/>
            <p:nvPr/>
          </p:nvSpPr>
          <p:spPr>
            <a:xfrm>
              <a:off x="4285375" y="37318666"/>
              <a:ext cx="1423697" cy="949131"/>
            </a:xfrm>
            <a:custGeom>
              <a:avLst/>
              <a:gdLst/>
              <a:ahLst/>
              <a:cxnLst/>
              <a:rect l="l" t="t" r="r" b="b"/>
              <a:pathLst>
                <a:path w="51" h="34">
                  <a:moveTo>
                    <a:pt x="0" y="34"/>
                  </a:moveTo>
                  <a:lnTo>
                    <a:pt x="51" y="34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7B799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Freeform 444"/>
            <p:cNvSpPr/>
            <p:nvPr/>
          </p:nvSpPr>
          <p:spPr>
            <a:xfrm>
              <a:off x="5709073" y="37318666"/>
              <a:ext cx="1423697" cy="949131"/>
            </a:xfrm>
            <a:custGeom>
              <a:avLst/>
              <a:gdLst/>
              <a:ahLst/>
              <a:cxnLst/>
              <a:rect l="l" t="t" r="r" b="b"/>
              <a:pathLst>
                <a:path w="51" h="34">
                  <a:moveTo>
                    <a:pt x="0" y="34"/>
                  </a:moveTo>
                  <a:lnTo>
                    <a:pt x="51" y="34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67001F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" name="Freeform 445"/>
            <p:cNvSpPr/>
            <p:nvPr/>
          </p:nvSpPr>
          <p:spPr>
            <a:xfrm>
              <a:off x="7132770" y="37318666"/>
              <a:ext cx="1423697" cy="949131"/>
            </a:xfrm>
            <a:custGeom>
              <a:avLst/>
              <a:gdLst/>
              <a:ahLst/>
              <a:cxnLst/>
              <a:rect l="l" t="t" r="r" b="b"/>
              <a:pathLst>
                <a:path w="51" h="34">
                  <a:moveTo>
                    <a:pt x="0" y="34"/>
                  </a:moveTo>
                  <a:lnTo>
                    <a:pt x="51" y="34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67001F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7" name="Freeform 446"/>
            <p:cNvSpPr/>
            <p:nvPr/>
          </p:nvSpPr>
          <p:spPr>
            <a:xfrm>
              <a:off x="8556467" y="37318666"/>
              <a:ext cx="1423697" cy="949131"/>
            </a:xfrm>
            <a:custGeom>
              <a:avLst/>
              <a:gdLst/>
              <a:ahLst/>
              <a:cxnLst/>
              <a:rect l="l" t="t" r="r" b="b"/>
              <a:pathLst>
                <a:path w="51" h="34">
                  <a:moveTo>
                    <a:pt x="0" y="34"/>
                  </a:moveTo>
                  <a:lnTo>
                    <a:pt x="51" y="34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7F7F7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8" name="Freeform 447"/>
            <p:cNvSpPr/>
            <p:nvPr/>
          </p:nvSpPr>
          <p:spPr>
            <a:xfrm>
              <a:off x="9980164" y="37318666"/>
              <a:ext cx="1423697" cy="949131"/>
            </a:xfrm>
            <a:custGeom>
              <a:avLst/>
              <a:gdLst/>
              <a:ahLst/>
              <a:cxnLst/>
              <a:rect l="l" t="t" r="r" b="b"/>
              <a:pathLst>
                <a:path w="51" h="34">
                  <a:moveTo>
                    <a:pt x="0" y="34"/>
                  </a:moveTo>
                  <a:lnTo>
                    <a:pt x="51" y="34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7F7F7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" name="Freeform 448"/>
            <p:cNvSpPr/>
            <p:nvPr/>
          </p:nvSpPr>
          <p:spPr>
            <a:xfrm>
              <a:off x="11403861" y="37318666"/>
              <a:ext cx="1451613" cy="949131"/>
            </a:xfrm>
            <a:custGeom>
              <a:avLst/>
              <a:gdLst/>
              <a:ahLst/>
              <a:cxnLst/>
              <a:rect l="l" t="t" r="r" b="b"/>
              <a:pathLst>
                <a:path w="52" h="34">
                  <a:moveTo>
                    <a:pt x="0" y="34"/>
                  </a:moveTo>
                  <a:lnTo>
                    <a:pt x="52" y="34"/>
                  </a:lnTo>
                  <a:lnTo>
                    <a:pt x="52" y="0"/>
                  </a:lnTo>
                  <a:lnTo>
                    <a:pt x="0" y="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7F7F7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Freeform 449"/>
            <p:cNvSpPr/>
            <p:nvPr/>
          </p:nvSpPr>
          <p:spPr>
            <a:xfrm>
              <a:off x="4285375" y="36397450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53061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Freeform 450"/>
            <p:cNvSpPr/>
            <p:nvPr/>
          </p:nvSpPr>
          <p:spPr>
            <a:xfrm>
              <a:off x="5709073" y="36397450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3884BB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2" name="Freeform 451"/>
            <p:cNvSpPr/>
            <p:nvPr/>
          </p:nvSpPr>
          <p:spPr>
            <a:xfrm>
              <a:off x="7132770" y="36397450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F7F7F7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Freeform 452"/>
            <p:cNvSpPr/>
            <p:nvPr/>
          </p:nvSpPr>
          <p:spPr>
            <a:xfrm>
              <a:off x="8556467" y="36397450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67001F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Freeform 453"/>
            <p:cNvSpPr/>
            <p:nvPr/>
          </p:nvSpPr>
          <p:spPr>
            <a:xfrm>
              <a:off x="9980164" y="36397450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67001F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Freeform 454"/>
            <p:cNvSpPr/>
            <p:nvPr/>
          </p:nvSpPr>
          <p:spPr>
            <a:xfrm>
              <a:off x="11403861" y="36397450"/>
              <a:ext cx="1451613" cy="921216"/>
            </a:xfrm>
            <a:custGeom>
              <a:avLst/>
              <a:gdLst/>
              <a:ahLst/>
              <a:cxnLst/>
              <a:rect l="l" t="t" r="r" b="b"/>
              <a:pathLst>
                <a:path w="52" h="33">
                  <a:moveTo>
                    <a:pt x="0" y="33"/>
                  </a:moveTo>
                  <a:lnTo>
                    <a:pt x="52" y="33"/>
                  </a:lnTo>
                  <a:lnTo>
                    <a:pt x="52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F7B799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Freeform 455"/>
            <p:cNvSpPr/>
            <p:nvPr/>
          </p:nvSpPr>
          <p:spPr>
            <a:xfrm>
              <a:off x="4285375" y="35476234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3884BB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7" name="Freeform 456"/>
            <p:cNvSpPr/>
            <p:nvPr/>
          </p:nvSpPr>
          <p:spPr>
            <a:xfrm>
              <a:off x="5709073" y="35476234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A7D0E4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8" name="Freeform 457"/>
            <p:cNvSpPr/>
            <p:nvPr/>
          </p:nvSpPr>
          <p:spPr>
            <a:xfrm>
              <a:off x="7132770" y="35476234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F7F7F7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9" name="Freeform 458"/>
            <p:cNvSpPr/>
            <p:nvPr/>
          </p:nvSpPr>
          <p:spPr>
            <a:xfrm>
              <a:off x="8556467" y="35476234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67001F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0" name="Freeform 459"/>
            <p:cNvSpPr/>
            <p:nvPr/>
          </p:nvSpPr>
          <p:spPr>
            <a:xfrm>
              <a:off x="9980164" y="35476234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67001F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1" name="Freeform 460"/>
            <p:cNvSpPr/>
            <p:nvPr/>
          </p:nvSpPr>
          <p:spPr>
            <a:xfrm>
              <a:off x="11403861" y="35476234"/>
              <a:ext cx="1451613" cy="921216"/>
            </a:xfrm>
            <a:custGeom>
              <a:avLst/>
              <a:gdLst/>
              <a:ahLst/>
              <a:cxnLst/>
              <a:rect l="l" t="t" r="r" b="b"/>
              <a:pathLst>
                <a:path w="52" h="33">
                  <a:moveTo>
                    <a:pt x="0" y="33"/>
                  </a:moveTo>
                  <a:lnTo>
                    <a:pt x="52" y="33"/>
                  </a:lnTo>
                  <a:lnTo>
                    <a:pt x="52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67001F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2" name="Freeform 461"/>
            <p:cNvSpPr/>
            <p:nvPr/>
          </p:nvSpPr>
          <p:spPr>
            <a:xfrm>
              <a:off x="4285375" y="34555019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F7F7F7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3" name="Freeform 462"/>
            <p:cNvSpPr/>
            <p:nvPr/>
          </p:nvSpPr>
          <p:spPr>
            <a:xfrm>
              <a:off x="5709073" y="34555019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A7D0E4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4" name="Freeform 463"/>
            <p:cNvSpPr/>
            <p:nvPr/>
          </p:nvSpPr>
          <p:spPr>
            <a:xfrm>
              <a:off x="7132770" y="34555019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F7F7F7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5" name="Freeform 464"/>
            <p:cNvSpPr/>
            <p:nvPr/>
          </p:nvSpPr>
          <p:spPr>
            <a:xfrm>
              <a:off x="8556467" y="34555019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F7B799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6" name="Freeform 465"/>
            <p:cNvSpPr/>
            <p:nvPr/>
          </p:nvSpPr>
          <p:spPr>
            <a:xfrm>
              <a:off x="9980164" y="34555019"/>
              <a:ext cx="1423697" cy="921216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0" y="33"/>
                  </a:moveTo>
                  <a:lnTo>
                    <a:pt x="51" y="33"/>
                  </a:lnTo>
                  <a:lnTo>
                    <a:pt x="51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67001F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7" name="Freeform 466"/>
            <p:cNvSpPr/>
            <p:nvPr/>
          </p:nvSpPr>
          <p:spPr>
            <a:xfrm>
              <a:off x="11403861" y="34555019"/>
              <a:ext cx="1451613" cy="921216"/>
            </a:xfrm>
            <a:custGeom>
              <a:avLst/>
              <a:gdLst/>
              <a:ahLst/>
              <a:cxnLst/>
              <a:rect l="l" t="t" r="r" b="b"/>
              <a:pathLst>
                <a:path w="52" h="33">
                  <a:moveTo>
                    <a:pt x="0" y="33"/>
                  </a:moveTo>
                  <a:lnTo>
                    <a:pt x="52" y="33"/>
                  </a:lnTo>
                  <a:lnTo>
                    <a:pt x="52" y="0"/>
                  </a:lnTo>
                  <a:lnTo>
                    <a:pt x="0" y="0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67001F"/>
            </a:solidFill>
            <a:ln w="3349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8" name="Freeform 467"/>
            <p:cNvSpPr/>
            <p:nvPr/>
          </p:nvSpPr>
          <p:spPr>
            <a:xfrm>
              <a:off x="4983266" y="40110229"/>
              <a:ext cx="0" cy="223325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9" name="TextBox 468"/>
            <p:cNvSpPr txBox="1"/>
            <p:nvPr/>
          </p:nvSpPr>
          <p:spPr>
            <a:xfrm rot="19500000">
              <a:off x="4015868" y="40397552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V1</a:t>
              </a:r>
            </a:p>
          </p:txBody>
        </p:sp>
        <p:sp>
          <p:nvSpPr>
            <p:cNvPr id="470" name="Freeform 469"/>
            <p:cNvSpPr/>
            <p:nvPr/>
          </p:nvSpPr>
          <p:spPr>
            <a:xfrm>
              <a:off x="6406963" y="40110229"/>
              <a:ext cx="0" cy="223325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TextBox 470"/>
            <p:cNvSpPr txBox="1"/>
            <p:nvPr/>
          </p:nvSpPr>
          <p:spPr>
            <a:xfrm rot="19500000">
              <a:off x="5444376" y="40397552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V2</a:t>
              </a:r>
            </a:p>
          </p:txBody>
        </p:sp>
        <p:sp>
          <p:nvSpPr>
            <p:cNvPr id="472" name="Freeform 471"/>
            <p:cNvSpPr/>
            <p:nvPr/>
          </p:nvSpPr>
          <p:spPr>
            <a:xfrm>
              <a:off x="7830661" y="40110229"/>
              <a:ext cx="0" cy="223325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3" name="TextBox 472"/>
            <p:cNvSpPr txBox="1"/>
            <p:nvPr/>
          </p:nvSpPr>
          <p:spPr>
            <a:xfrm rot="19500000">
              <a:off x="6872883" y="40397552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V3</a:t>
              </a:r>
            </a:p>
          </p:txBody>
        </p:sp>
        <p:sp>
          <p:nvSpPr>
            <p:cNvPr id="474" name="Freeform 473"/>
            <p:cNvSpPr/>
            <p:nvPr/>
          </p:nvSpPr>
          <p:spPr>
            <a:xfrm>
              <a:off x="9282273" y="40110229"/>
              <a:ext cx="0" cy="223325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5" name="TextBox 474"/>
            <p:cNvSpPr txBox="1"/>
            <p:nvPr/>
          </p:nvSpPr>
          <p:spPr>
            <a:xfrm rot="19500000">
              <a:off x="8301391" y="40397552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V4</a:t>
              </a:r>
            </a:p>
          </p:txBody>
        </p:sp>
        <p:sp>
          <p:nvSpPr>
            <p:cNvPr id="476" name="Freeform 475"/>
            <p:cNvSpPr/>
            <p:nvPr/>
          </p:nvSpPr>
          <p:spPr>
            <a:xfrm>
              <a:off x="10705970" y="40110229"/>
              <a:ext cx="0" cy="223325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7" name="TextBox 476"/>
            <p:cNvSpPr txBox="1"/>
            <p:nvPr/>
          </p:nvSpPr>
          <p:spPr>
            <a:xfrm rot="19500000">
              <a:off x="9729898" y="40397552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V5</a:t>
              </a:r>
            </a:p>
          </p:txBody>
        </p:sp>
        <p:sp>
          <p:nvSpPr>
            <p:cNvPr id="478" name="Freeform 477"/>
            <p:cNvSpPr/>
            <p:nvPr/>
          </p:nvSpPr>
          <p:spPr>
            <a:xfrm>
              <a:off x="12129668" y="40110229"/>
              <a:ext cx="0" cy="223325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9" name="TextBox 478"/>
            <p:cNvSpPr txBox="1"/>
            <p:nvPr/>
          </p:nvSpPr>
          <p:spPr>
            <a:xfrm rot="19500000">
              <a:off x="11158406" y="40397552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V6</a:t>
              </a:r>
            </a:p>
          </p:txBody>
        </p:sp>
        <p:sp>
          <p:nvSpPr>
            <p:cNvPr id="480" name="TextBox 479"/>
            <p:cNvSpPr txBox="1"/>
            <p:nvPr/>
          </p:nvSpPr>
          <p:spPr>
            <a:xfrm>
              <a:off x="6508612" y="41921382"/>
              <a:ext cx="4099560" cy="9753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000" i="1" b="0">
                  <a:solidFill>
                    <a:srgbClr val="000000"/>
                  </a:solidFill>
                  <a:latin typeface="Calibri"/>
                </a:rPr>
                <a:t>Variables</a:t>
              </a:r>
            </a:p>
          </p:txBody>
        </p:sp>
        <p:sp>
          <p:nvSpPr>
            <p:cNvPr id="481" name="Freeform 480"/>
            <p:cNvSpPr/>
            <p:nvPr/>
          </p:nvSpPr>
          <p:spPr>
            <a:xfrm>
              <a:off x="4062050" y="39635663"/>
              <a:ext cx="223325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2" name="TextBox 481"/>
            <p:cNvSpPr txBox="1"/>
            <p:nvPr/>
          </p:nvSpPr>
          <p:spPr>
            <a:xfrm>
              <a:off x="2793600" y="39285849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V1</a:t>
              </a:r>
            </a:p>
          </p:txBody>
        </p:sp>
        <p:sp>
          <p:nvSpPr>
            <p:cNvPr id="483" name="Freeform 482"/>
            <p:cNvSpPr/>
            <p:nvPr/>
          </p:nvSpPr>
          <p:spPr>
            <a:xfrm>
              <a:off x="4062050" y="38714447"/>
              <a:ext cx="223325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4" name="TextBox 483"/>
            <p:cNvSpPr txBox="1"/>
            <p:nvPr/>
          </p:nvSpPr>
          <p:spPr>
            <a:xfrm>
              <a:off x="2793600" y="38361284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V2</a:t>
              </a:r>
            </a:p>
          </p:txBody>
        </p:sp>
        <p:sp>
          <p:nvSpPr>
            <p:cNvPr id="485" name="Freeform 484"/>
            <p:cNvSpPr/>
            <p:nvPr/>
          </p:nvSpPr>
          <p:spPr>
            <a:xfrm>
              <a:off x="4062050" y="37793232"/>
              <a:ext cx="223325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6" name="TextBox 485"/>
            <p:cNvSpPr txBox="1"/>
            <p:nvPr/>
          </p:nvSpPr>
          <p:spPr>
            <a:xfrm>
              <a:off x="2793600" y="37436718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V3</a:t>
              </a:r>
            </a:p>
          </p:txBody>
        </p:sp>
        <p:sp>
          <p:nvSpPr>
            <p:cNvPr id="487" name="Freeform 486"/>
            <p:cNvSpPr/>
            <p:nvPr/>
          </p:nvSpPr>
          <p:spPr>
            <a:xfrm>
              <a:off x="4062050" y="36872016"/>
              <a:ext cx="223325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8" name="TextBox 487"/>
            <p:cNvSpPr txBox="1"/>
            <p:nvPr/>
          </p:nvSpPr>
          <p:spPr>
            <a:xfrm>
              <a:off x="2793600" y="36512152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V4</a:t>
              </a:r>
            </a:p>
          </p:txBody>
        </p:sp>
        <p:sp>
          <p:nvSpPr>
            <p:cNvPr id="489" name="Freeform 488"/>
            <p:cNvSpPr/>
            <p:nvPr/>
          </p:nvSpPr>
          <p:spPr>
            <a:xfrm>
              <a:off x="4062050" y="35950800"/>
              <a:ext cx="223325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0" name="TextBox 489"/>
            <p:cNvSpPr txBox="1"/>
            <p:nvPr/>
          </p:nvSpPr>
          <p:spPr>
            <a:xfrm>
              <a:off x="2793600" y="35587587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V5</a:t>
              </a:r>
            </a:p>
          </p:txBody>
        </p:sp>
        <p:sp>
          <p:nvSpPr>
            <p:cNvPr id="491" name="Freeform 490"/>
            <p:cNvSpPr/>
            <p:nvPr/>
          </p:nvSpPr>
          <p:spPr>
            <a:xfrm>
              <a:off x="4062050" y="35029584"/>
              <a:ext cx="223325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2" name="TextBox 491"/>
            <p:cNvSpPr txBox="1"/>
            <p:nvPr/>
          </p:nvSpPr>
          <p:spPr>
            <a:xfrm>
              <a:off x="2793600" y="34663021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V6</a:t>
              </a:r>
            </a:p>
          </p:txBody>
        </p:sp>
        <p:sp>
          <p:nvSpPr>
            <p:cNvPr id="493" name="TextBox 492"/>
            <p:cNvSpPr txBox="1"/>
            <p:nvPr/>
          </p:nvSpPr>
          <p:spPr>
            <a:xfrm>
              <a:off x="2366587" y="35282285"/>
              <a:ext cx="975360" cy="4099560"/>
            </a:xfrm>
            <a:prstGeom prst="rect">
              <a:avLst/>
            </a:prstGeom>
            <a:noFill/>
          </p:spPr>
          <p:txBody>
            <a:bodyPr wrap="none" lIns="0" rIns="0" tIns="0" bIns="0" anchor="ctr" vert="vert27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000" i="1" b="0">
                  <a:solidFill>
                    <a:srgbClr val="000000"/>
                  </a:solidFill>
                  <a:latin typeface="Calibri"/>
                </a:rPr>
                <a:t>Variables</a:t>
              </a:r>
            </a:p>
          </p:txBody>
        </p:sp>
        <p:sp>
          <p:nvSpPr>
            <p:cNvPr id="494" name="Freeform 493"/>
            <p:cNvSpPr/>
            <p:nvPr/>
          </p:nvSpPr>
          <p:spPr>
            <a:xfrm>
              <a:off x="4285375" y="34555019"/>
              <a:ext cx="0" cy="5555210"/>
            </a:xfrm>
            <a:custGeom>
              <a:avLst/>
              <a:gdLst/>
              <a:ahLst/>
              <a:cxnLst/>
              <a:rect l="l" t="t" r="r" b="b"/>
              <a:pathLst>
                <a:path w="0" h="199">
                  <a:moveTo>
                    <a:pt x="0" y="199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5" name="Freeform 494"/>
            <p:cNvSpPr/>
            <p:nvPr/>
          </p:nvSpPr>
          <p:spPr>
            <a:xfrm>
              <a:off x="4285375" y="40110229"/>
              <a:ext cx="8570099" cy="0"/>
            </a:xfrm>
            <a:custGeom>
              <a:avLst/>
              <a:gdLst/>
              <a:ahLst/>
              <a:cxnLst/>
              <a:rect l="l" t="t" r="r" b="b"/>
              <a:pathLst>
                <a:path w="307" h="0">
                  <a:moveTo>
                    <a:pt x="0" y="0"/>
                  </a:moveTo>
                  <a:lnTo>
                    <a:pt x="307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6" name="Freeform 495"/>
            <p:cNvSpPr/>
            <p:nvPr/>
          </p:nvSpPr>
          <p:spPr>
            <a:xfrm>
              <a:off x="13218377" y="34555019"/>
              <a:ext cx="279156" cy="5555210"/>
            </a:xfrm>
            <a:custGeom>
              <a:avLst/>
              <a:gdLst/>
              <a:ahLst/>
              <a:cxnLst/>
              <a:rect l="l" t="t" r="r" b="b"/>
              <a:pathLst>
                <a:path w="10" h="199">
                  <a:moveTo>
                    <a:pt x="0" y="199"/>
                  </a:moveTo>
                  <a:lnTo>
                    <a:pt x="10" y="19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99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7" name="Freeform 496"/>
            <p:cNvSpPr/>
            <p:nvPr/>
          </p:nvSpPr>
          <p:spPr>
            <a:xfrm>
              <a:off x="13218377" y="39300676"/>
              <a:ext cx="279156" cy="809553"/>
            </a:xfrm>
            <a:custGeom>
              <a:avLst/>
              <a:gdLst/>
              <a:ahLst/>
              <a:cxnLst/>
              <a:rect l="l" t="t" r="r" b="b"/>
              <a:pathLst>
                <a:path w="10" h="29">
                  <a:moveTo>
                    <a:pt x="0" y="29"/>
                  </a:moveTo>
                  <a:lnTo>
                    <a:pt x="10" y="2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5306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8" name="Freeform 497"/>
            <p:cNvSpPr/>
            <p:nvPr/>
          </p:nvSpPr>
          <p:spPr>
            <a:xfrm>
              <a:off x="13218377" y="38519038"/>
              <a:ext cx="279156" cy="781638"/>
            </a:xfrm>
            <a:custGeom>
              <a:avLst/>
              <a:gdLst/>
              <a:ahLst/>
              <a:cxnLst/>
              <a:rect l="l" t="t" r="r" b="b"/>
              <a:pathLst>
                <a:path w="10" h="28">
                  <a:moveTo>
                    <a:pt x="0" y="28"/>
                  </a:moveTo>
                  <a:lnTo>
                    <a:pt x="10" y="28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3884B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9" name="Freeform 498"/>
            <p:cNvSpPr/>
            <p:nvPr/>
          </p:nvSpPr>
          <p:spPr>
            <a:xfrm>
              <a:off x="13218377" y="37737400"/>
              <a:ext cx="279156" cy="781638"/>
            </a:xfrm>
            <a:custGeom>
              <a:avLst/>
              <a:gdLst/>
              <a:ahLst/>
              <a:cxnLst/>
              <a:rect l="l" t="t" r="r" b="b"/>
              <a:pathLst>
                <a:path w="10" h="28">
                  <a:moveTo>
                    <a:pt x="0" y="28"/>
                  </a:moveTo>
                  <a:lnTo>
                    <a:pt x="10" y="28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A7D0E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0" name="Freeform 499"/>
            <p:cNvSpPr/>
            <p:nvPr/>
          </p:nvSpPr>
          <p:spPr>
            <a:xfrm>
              <a:off x="13218377" y="36927847"/>
              <a:ext cx="279156" cy="809553"/>
            </a:xfrm>
            <a:custGeom>
              <a:avLst/>
              <a:gdLst/>
              <a:ahLst/>
              <a:cxnLst/>
              <a:rect l="l" t="t" r="r" b="b"/>
              <a:pathLst>
                <a:path w="10" h="29">
                  <a:moveTo>
                    <a:pt x="0" y="29"/>
                  </a:moveTo>
                  <a:lnTo>
                    <a:pt x="10" y="2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1" name="Freeform 500"/>
            <p:cNvSpPr/>
            <p:nvPr/>
          </p:nvSpPr>
          <p:spPr>
            <a:xfrm>
              <a:off x="13218377" y="36146209"/>
              <a:ext cx="279156" cy="781638"/>
            </a:xfrm>
            <a:custGeom>
              <a:avLst/>
              <a:gdLst/>
              <a:ahLst/>
              <a:cxnLst/>
              <a:rect l="l" t="t" r="r" b="b"/>
              <a:pathLst>
                <a:path w="10" h="28">
                  <a:moveTo>
                    <a:pt x="0" y="28"/>
                  </a:moveTo>
                  <a:lnTo>
                    <a:pt x="10" y="28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7B79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2" name="Freeform 501"/>
            <p:cNvSpPr/>
            <p:nvPr/>
          </p:nvSpPr>
          <p:spPr>
            <a:xfrm>
              <a:off x="13218377" y="35364572"/>
              <a:ext cx="279156" cy="781638"/>
            </a:xfrm>
            <a:custGeom>
              <a:avLst/>
              <a:gdLst/>
              <a:ahLst/>
              <a:cxnLst/>
              <a:rect l="l" t="t" r="r" b="b"/>
              <a:pathLst>
                <a:path w="10" h="28">
                  <a:moveTo>
                    <a:pt x="0" y="28"/>
                  </a:moveTo>
                  <a:lnTo>
                    <a:pt x="10" y="28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CA484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3" name="Freeform 502"/>
            <p:cNvSpPr/>
            <p:nvPr/>
          </p:nvSpPr>
          <p:spPr>
            <a:xfrm>
              <a:off x="13218377" y="34555019"/>
              <a:ext cx="279156" cy="809553"/>
            </a:xfrm>
            <a:custGeom>
              <a:avLst/>
              <a:gdLst/>
              <a:ahLst/>
              <a:cxnLst/>
              <a:rect l="l" t="t" r="r" b="b"/>
              <a:pathLst>
                <a:path w="10" h="29">
                  <a:moveTo>
                    <a:pt x="0" y="29"/>
                  </a:moveTo>
                  <a:lnTo>
                    <a:pt x="10" y="2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67001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4" name="Freeform 503"/>
            <p:cNvSpPr/>
            <p:nvPr/>
          </p:nvSpPr>
          <p:spPr>
            <a:xfrm>
              <a:off x="13497534" y="40110229"/>
              <a:ext cx="223325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0" y="0"/>
                  </a:moveTo>
                  <a:lnTo>
                    <a:pt x="8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5" name="TextBox 504"/>
            <p:cNvSpPr txBox="1"/>
            <p:nvPr/>
          </p:nvSpPr>
          <p:spPr>
            <a:xfrm>
              <a:off x="13821145" y="39748132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−1</a:t>
              </a:r>
            </a:p>
          </p:txBody>
        </p:sp>
        <p:sp>
          <p:nvSpPr>
            <p:cNvPr id="506" name="Freeform 505"/>
            <p:cNvSpPr/>
            <p:nvPr/>
          </p:nvSpPr>
          <p:spPr>
            <a:xfrm>
              <a:off x="13497534" y="37318666"/>
              <a:ext cx="223325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0" y="0"/>
                  </a:moveTo>
                  <a:lnTo>
                    <a:pt x="8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7" name="TextBox 506"/>
            <p:cNvSpPr txBox="1"/>
            <p:nvPr/>
          </p:nvSpPr>
          <p:spPr>
            <a:xfrm>
              <a:off x="13821145" y="36974435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</a:t>
              </a:r>
            </a:p>
          </p:txBody>
        </p:sp>
        <p:sp>
          <p:nvSpPr>
            <p:cNvPr id="508" name="Freeform 507"/>
            <p:cNvSpPr/>
            <p:nvPr/>
          </p:nvSpPr>
          <p:spPr>
            <a:xfrm>
              <a:off x="13497534" y="34555019"/>
              <a:ext cx="223325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0" y="0"/>
                  </a:moveTo>
                  <a:lnTo>
                    <a:pt x="8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9" name="TextBox 508"/>
            <p:cNvSpPr txBox="1"/>
            <p:nvPr/>
          </p:nvSpPr>
          <p:spPr>
            <a:xfrm>
              <a:off x="13821145" y="34200738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1</a:t>
              </a:r>
            </a:p>
          </p:txBody>
        </p:sp>
        <p:sp>
          <p:nvSpPr>
            <p:cNvPr id="510" name="Freeform 509"/>
            <p:cNvSpPr/>
            <p:nvPr/>
          </p:nvSpPr>
          <p:spPr>
            <a:xfrm>
              <a:off x="13497534" y="39300676"/>
              <a:ext cx="55831" cy="0"/>
            </a:xfrm>
            <a:custGeom>
              <a:avLst/>
              <a:gdLst/>
              <a:ahLst/>
              <a:cxnLst/>
              <a:rect l="l" t="t" r="r" b="b"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1" name="Freeform 510"/>
            <p:cNvSpPr/>
            <p:nvPr/>
          </p:nvSpPr>
          <p:spPr>
            <a:xfrm>
              <a:off x="13497534" y="38519038"/>
              <a:ext cx="55831" cy="0"/>
            </a:xfrm>
            <a:custGeom>
              <a:avLst/>
              <a:gdLst/>
              <a:ahLst/>
              <a:cxnLst/>
              <a:rect l="l" t="t" r="r" b="b"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2" name="Freeform 511"/>
            <p:cNvSpPr/>
            <p:nvPr/>
          </p:nvSpPr>
          <p:spPr>
            <a:xfrm>
              <a:off x="13497534" y="37737400"/>
              <a:ext cx="55831" cy="0"/>
            </a:xfrm>
            <a:custGeom>
              <a:avLst/>
              <a:gdLst/>
              <a:ahLst/>
              <a:cxnLst/>
              <a:rect l="l" t="t" r="r" b="b"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3" name="Freeform 512"/>
            <p:cNvSpPr/>
            <p:nvPr/>
          </p:nvSpPr>
          <p:spPr>
            <a:xfrm>
              <a:off x="13497534" y="36927847"/>
              <a:ext cx="55831" cy="0"/>
            </a:xfrm>
            <a:custGeom>
              <a:avLst/>
              <a:gdLst/>
              <a:ahLst/>
              <a:cxnLst/>
              <a:rect l="l" t="t" r="r" b="b"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4" name="Freeform 513"/>
            <p:cNvSpPr/>
            <p:nvPr/>
          </p:nvSpPr>
          <p:spPr>
            <a:xfrm>
              <a:off x="13497534" y="36146209"/>
              <a:ext cx="55831" cy="0"/>
            </a:xfrm>
            <a:custGeom>
              <a:avLst/>
              <a:gdLst/>
              <a:ahLst/>
              <a:cxnLst/>
              <a:rect l="l" t="t" r="r" b="b"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5" name="Freeform 514"/>
            <p:cNvSpPr/>
            <p:nvPr/>
          </p:nvSpPr>
          <p:spPr>
            <a:xfrm>
              <a:off x="13497534" y="35364572"/>
              <a:ext cx="55831" cy="0"/>
            </a:xfrm>
            <a:custGeom>
              <a:avLst/>
              <a:gdLst/>
              <a:ahLst/>
              <a:cxnLst/>
              <a:rect l="l" t="t" r="r" b="b"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6" name="TextBox 515"/>
            <p:cNvSpPr txBox="1"/>
            <p:nvPr/>
          </p:nvSpPr>
          <p:spPr>
            <a:xfrm>
              <a:off x="14808448" y="34847945"/>
              <a:ext cx="975360" cy="4968240"/>
            </a:xfrm>
            <a:prstGeom prst="rect">
              <a:avLst/>
            </a:prstGeom>
            <a:noFill/>
          </p:spPr>
          <p:txBody>
            <a:bodyPr wrap="none" lIns="0" rIns="0" tIns="0" bIns="0" anchor="ctr" vert="vert27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000" i="1" b="0">
                  <a:solidFill>
                    <a:srgbClr val="000000"/>
                  </a:solidFill>
                  <a:latin typeface="Calibri"/>
                </a:rPr>
                <a:t>Correlation</a:t>
              </a:r>
            </a:p>
          </p:txBody>
        </p:sp>
        <p:sp>
          <p:nvSpPr>
            <p:cNvPr id="517" name="Freeform 516"/>
            <p:cNvSpPr/>
            <p:nvPr/>
          </p:nvSpPr>
          <p:spPr>
            <a:xfrm>
              <a:off x="13218377" y="34555019"/>
              <a:ext cx="279156" cy="5555210"/>
            </a:xfrm>
            <a:custGeom>
              <a:avLst/>
              <a:gdLst/>
              <a:ahLst/>
              <a:cxnLst/>
              <a:rect l="l" t="t" r="r" b="b"/>
              <a:pathLst>
                <a:path w="10" h="199">
                  <a:moveTo>
                    <a:pt x="0" y="199"/>
                  </a:moveTo>
                  <a:lnTo>
                    <a:pt x="5" y="199"/>
                  </a:lnTo>
                  <a:lnTo>
                    <a:pt x="10" y="199"/>
                  </a:lnTo>
                  <a:lnTo>
                    <a:pt x="10" y="0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199"/>
                  </a:lnTo>
                  <a:close/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8" name="TextBox 517"/>
            <p:cNvSpPr txBox="1"/>
            <p:nvPr/>
          </p:nvSpPr>
          <p:spPr>
            <a:xfrm>
              <a:off x="2194560" y="32676706"/>
              <a:ext cx="12344908" cy="1235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7600" i="1" b="1">
                  <a:solidFill>
                    <a:srgbClr val="000000"/>
                  </a:solidFill>
                  <a:latin typeface="Calibri"/>
                </a:rPr>
                <a:t>g. Correlation heatmap</a:t>
              </a:r>
            </a:p>
          </p:txBody>
        </p:sp>
      </p:grpSp>
      <p:grpSp>
        <p:nvGrpSpPr>
          <p:cNvPr id="641" name="Editable SVG panel 08: panel-08"/>
          <p:cNvGrpSpPr/>
          <p:nvPr/>
        </p:nvGrpSpPr>
        <p:grpSpPr>
          <a:xfrm>
            <a:off x="17287113" y="32628839"/>
            <a:ext cx="16244987" cy="12190454"/>
            <a:chOff x="17287113" y="32628839"/>
            <a:chExt cx="16244987" cy="12190454"/>
          </a:xfrm>
        </p:grpSpPr>
        <p:sp>
          <p:nvSpPr>
            <p:cNvPr id="520" name="Panel layout anchor: panel-08"/>
            <p:cNvSpPr/>
            <p:nvPr/>
          </p:nvSpPr>
          <p:spPr>
            <a:xfrm>
              <a:off x="17287113" y="32628839"/>
              <a:ext cx="16239617" cy="1217971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1" name="Freeform 520"/>
            <p:cNvSpPr/>
            <p:nvPr/>
          </p:nvSpPr>
          <p:spPr>
            <a:xfrm>
              <a:off x="17287113" y="32628840"/>
              <a:ext cx="16244987" cy="12190453"/>
            </a:xfrm>
            <a:custGeom>
              <a:avLst/>
              <a:gdLst/>
              <a:ahLst/>
              <a:cxnLst/>
              <a:rect l="l" t="t" r="r" b="b"/>
              <a:pathLst>
                <a:path w="605" h="454">
                  <a:moveTo>
                    <a:pt x="0" y="454"/>
                  </a:moveTo>
                  <a:lnTo>
                    <a:pt x="605" y="454"/>
                  </a:lnTo>
                  <a:lnTo>
                    <a:pt x="605" y="0"/>
                  </a:lnTo>
                  <a:lnTo>
                    <a:pt x="0" y="0"/>
                  </a:lnTo>
                  <a:lnTo>
                    <a:pt x="0" y="45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2" name="Freeform 521"/>
            <p:cNvSpPr/>
            <p:nvPr/>
          </p:nvSpPr>
          <p:spPr>
            <a:xfrm>
              <a:off x="21395349" y="34588979"/>
              <a:ext cx="11814536" cy="1020346"/>
            </a:xfrm>
            <a:custGeom>
              <a:avLst/>
              <a:gdLst/>
              <a:ahLst/>
              <a:cxnLst/>
              <a:rect l="l" t="t" r="r" b="b"/>
              <a:pathLst>
                <a:path w="440" h="38">
                  <a:moveTo>
                    <a:pt x="0" y="38"/>
                  </a:moveTo>
                  <a:lnTo>
                    <a:pt x="440" y="38"/>
                  </a:lnTo>
                  <a:lnTo>
                    <a:pt x="440" y="0"/>
                  </a:lnTo>
                  <a:lnTo>
                    <a:pt x="0" y="0"/>
                  </a:lnTo>
                  <a:lnTo>
                    <a:pt x="0" y="38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3" name="Freeform 522"/>
            <p:cNvSpPr/>
            <p:nvPr/>
          </p:nvSpPr>
          <p:spPr>
            <a:xfrm>
              <a:off x="23597149" y="35313962"/>
              <a:ext cx="1476817" cy="295363"/>
            </a:xfrm>
            <a:custGeom>
              <a:avLst/>
              <a:gdLst/>
              <a:ahLst/>
              <a:cxnLst/>
              <a:rect l="l" t="t" r="r" b="b"/>
              <a:pathLst>
                <a:path w="55" h="11">
                  <a:moveTo>
                    <a:pt x="0" y="11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1"/>
                  </a:lnTo>
                </a:path>
              </a:pathLst>
            </a:custGeom>
            <a:noFill/>
            <a:ln w="107404">
              <a:solidFill>
                <a:srgbClr val="607D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4" name="Freeform 523"/>
            <p:cNvSpPr/>
            <p:nvPr/>
          </p:nvSpPr>
          <p:spPr>
            <a:xfrm>
              <a:off x="22120332" y="35179706"/>
              <a:ext cx="2228651" cy="429619"/>
            </a:xfrm>
            <a:custGeom>
              <a:avLst/>
              <a:gdLst/>
              <a:ahLst/>
              <a:cxnLst/>
              <a:rect l="l" t="t" r="r" b="b"/>
              <a:pathLst>
                <a:path w="83" h="16">
                  <a:moveTo>
                    <a:pt x="0" y="16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5"/>
                  </a:lnTo>
                </a:path>
              </a:pathLst>
            </a:custGeom>
            <a:noFill/>
            <a:ln w="107404">
              <a:solidFill>
                <a:srgbClr val="607D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5" name="Freeform 524"/>
            <p:cNvSpPr/>
            <p:nvPr/>
          </p:nvSpPr>
          <p:spPr>
            <a:xfrm>
              <a:off x="26550783" y="35313962"/>
              <a:ext cx="1476817" cy="295363"/>
            </a:xfrm>
            <a:custGeom>
              <a:avLst/>
              <a:gdLst/>
              <a:ahLst/>
              <a:cxnLst/>
              <a:rect l="l" t="t" r="r" b="b"/>
              <a:pathLst>
                <a:path w="55" h="11">
                  <a:moveTo>
                    <a:pt x="0" y="11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1"/>
                  </a:lnTo>
                </a:path>
              </a:pathLst>
            </a:custGeom>
            <a:noFill/>
            <a:ln w="107404">
              <a:solidFill>
                <a:srgbClr val="607D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6" name="Freeform 525"/>
            <p:cNvSpPr/>
            <p:nvPr/>
          </p:nvSpPr>
          <p:spPr>
            <a:xfrm>
              <a:off x="30981234" y="35340813"/>
              <a:ext cx="1476817" cy="268512"/>
            </a:xfrm>
            <a:custGeom>
              <a:avLst/>
              <a:gdLst/>
              <a:ahLst/>
              <a:cxnLst/>
              <a:rect l="l" t="t" r="r" b="b"/>
              <a:pathLst>
                <a:path w="55" h="10">
                  <a:moveTo>
                    <a:pt x="0" y="10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0"/>
                  </a:lnTo>
                </a:path>
              </a:pathLst>
            </a:custGeom>
            <a:noFill/>
            <a:ln w="107404">
              <a:solidFill>
                <a:srgbClr val="607D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7" name="Freeform 526"/>
            <p:cNvSpPr/>
            <p:nvPr/>
          </p:nvSpPr>
          <p:spPr>
            <a:xfrm>
              <a:off x="29504417" y="35206557"/>
              <a:ext cx="2228651" cy="402768"/>
            </a:xfrm>
            <a:custGeom>
              <a:avLst/>
              <a:gdLst/>
              <a:ahLst/>
              <a:cxnLst/>
              <a:rect l="l" t="t" r="r" b="b"/>
              <a:pathLst>
                <a:path w="83" h="15">
                  <a:moveTo>
                    <a:pt x="0" y="15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5"/>
                  </a:lnTo>
                </a:path>
              </a:pathLst>
            </a:custGeom>
            <a:noFill/>
            <a:ln w="107404">
              <a:solidFill>
                <a:srgbClr val="607D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8" name="Freeform 527"/>
            <p:cNvSpPr/>
            <p:nvPr/>
          </p:nvSpPr>
          <p:spPr>
            <a:xfrm>
              <a:off x="27302618" y="35045450"/>
              <a:ext cx="3302700" cy="268512"/>
            </a:xfrm>
            <a:custGeom>
              <a:avLst/>
              <a:gdLst/>
              <a:ahLst/>
              <a:cxnLst/>
              <a:rect l="l" t="t" r="r" b="b"/>
              <a:pathLst>
                <a:path w="123" h="10">
                  <a:moveTo>
                    <a:pt x="0" y="10"/>
                  </a:moveTo>
                  <a:lnTo>
                    <a:pt x="0" y="0"/>
                  </a:lnTo>
                  <a:lnTo>
                    <a:pt x="123" y="0"/>
                  </a:lnTo>
                  <a:lnTo>
                    <a:pt x="123" y="6"/>
                  </a:lnTo>
                </a:path>
              </a:pathLst>
            </a:custGeom>
            <a:noFill/>
            <a:ln w="107404">
              <a:solidFill>
                <a:srgbClr val="607D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9" name="Freeform 528"/>
            <p:cNvSpPr/>
            <p:nvPr/>
          </p:nvSpPr>
          <p:spPr>
            <a:xfrm>
              <a:off x="23221232" y="34615830"/>
              <a:ext cx="5746161" cy="563876"/>
            </a:xfrm>
            <a:custGeom>
              <a:avLst/>
              <a:gdLst/>
              <a:ahLst/>
              <a:cxnLst/>
              <a:rect l="l" t="t" r="r" b="b"/>
              <a:pathLst>
                <a:path w="214" h="21">
                  <a:moveTo>
                    <a:pt x="0" y="21"/>
                  </a:moveTo>
                  <a:lnTo>
                    <a:pt x="0" y="0"/>
                  </a:lnTo>
                  <a:lnTo>
                    <a:pt x="214" y="0"/>
                  </a:lnTo>
                  <a:lnTo>
                    <a:pt x="214" y="16"/>
                  </a:lnTo>
                </a:path>
              </a:pathLst>
            </a:custGeom>
            <a:noFill/>
            <a:ln w="107404">
              <a:solidFill>
                <a:srgbClr val="607D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0" name="Freeform 529"/>
            <p:cNvSpPr/>
            <p:nvPr/>
          </p:nvSpPr>
          <p:spPr>
            <a:xfrm>
              <a:off x="18575971" y="35689879"/>
              <a:ext cx="2604568" cy="4725814"/>
            </a:xfrm>
            <a:custGeom>
              <a:avLst/>
              <a:gdLst/>
              <a:ahLst/>
              <a:cxnLst/>
              <a:rect l="l" t="t" r="r" b="b"/>
              <a:pathLst>
                <a:path w="97" h="176">
                  <a:moveTo>
                    <a:pt x="0" y="176"/>
                  </a:moveTo>
                  <a:lnTo>
                    <a:pt x="97" y="176"/>
                  </a:lnTo>
                  <a:lnTo>
                    <a:pt x="97" y="0"/>
                  </a:lnTo>
                  <a:lnTo>
                    <a:pt x="0" y="0"/>
                  </a:lnTo>
                  <a:lnTo>
                    <a:pt x="0" y="176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1" name="Freeform 530"/>
            <p:cNvSpPr/>
            <p:nvPr/>
          </p:nvSpPr>
          <p:spPr>
            <a:xfrm>
              <a:off x="20777771" y="38938876"/>
              <a:ext cx="402768" cy="590727"/>
            </a:xfrm>
            <a:custGeom>
              <a:avLst/>
              <a:gdLst/>
              <a:ahLst/>
              <a:cxnLst/>
              <a:rect l="l" t="t" r="r" b="b"/>
              <a:pathLst>
                <a:path w="15" h="22">
                  <a:moveTo>
                    <a:pt x="15" y="22"/>
                  </a:moveTo>
                  <a:lnTo>
                    <a:pt x="0" y="22"/>
                  </a:lnTo>
                  <a:lnTo>
                    <a:pt x="0" y="0"/>
                  </a:lnTo>
                  <a:lnTo>
                    <a:pt x="15" y="0"/>
                  </a:lnTo>
                </a:path>
              </a:pathLst>
            </a:custGeom>
            <a:noFill/>
            <a:ln w="107404">
              <a:solidFill>
                <a:srgbClr val="607D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2" name="Freeform 531"/>
            <p:cNvSpPr/>
            <p:nvPr/>
          </p:nvSpPr>
          <p:spPr>
            <a:xfrm>
              <a:off x="20401854" y="39234240"/>
              <a:ext cx="778685" cy="886090"/>
            </a:xfrm>
            <a:custGeom>
              <a:avLst/>
              <a:gdLst/>
              <a:ahLst/>
              <a:cxnLst/>
              <a:rect l="l" t="t" r="r" b="b"/>
              <a:pathLst>
                <a:path w="29" h="33">
                  <a:moveTo>
                    <a:pt x="29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4" y="0"/>
                  </a:lnTo>
                </a:path>
              </a:pathLst>
            </a:custGeom>
            <a:noFill/>
            <a:ln w="107404">
              <a:solidFill>
                <a:srgbClr val="607D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3" name="Freeform 532"/>
            <p:cNvSpPr/>
            <p:nvPr/>
          </p:nvSpPr>
          <p:spPr>
            <a:xfrm>
              <a:off x="20079640" y="37757423"/>
              <a:ext cx="1100900" cy="590727"/>
            </a:xfrm>
            <a:custGeom>
              <a:avLst/>
              <a:gdLst/>
              <a:ahLst/>
              <a:cxnLst/>
              <a:rect l="l" t="t" r="r" b="b"/>
              <a:pathLst>
                <a:path w="41" h="22">
                  <a:moveTo>
                    <a:pt x="41" y="22"/>
                  </a:moveTo>
                  <a:lnTo>
                    <a:pt x="0" y="22"/>
                  </a:lnTo>
                  <a:lnTo>
                    <a:pt x="0" y="0"/>
                  </a:lnTo>
                  <a:lnTo>
                    <a:pt x="41" y="0"/>
                  </a:lnTo>
                </a:path>
              </a:pathLst>
            </a:custGeom>
            <a:noFill/>
            <a:ln w="107404">
              <a:solidFill>
                <a:srgbClr val="607D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4" name="Freeform 533"/>
            <p:cNvSpPr/>
            <p:nvPr/>
          </p:nvSpPr>
          <p:spPr>
            <a:xfrm>
              <a:off x="20133342" y="35985242"/>
              <a:ext cx="1047198" cy="590727"/>
            </a:xfrm>
            <a:custGeom>
              <a:avLst/>
              <a:gdLst/>
              <a:ahLst/>
              <a:cxnLst/>
              <a:rect l="l" t="t" r="r" b="b"/>
              <a:pathLst>
                <a:path w="39" h="22">
                  <a:moveTo>
                    <a:pt x="39" y="22"/>
                  </a:moveTo>
                  <a:lnTo>
                    <a:pt x="0" y="22"/>
                  </a:lnTo>
                  <a:lnTo>
                    <a:pt x="0" y="0"/>
                  </a:lnTo>
                  <a:lnTo>
                    <a:pt x="39" y="0"/>
                  </a:lnTo>
                </a:path>
              </a:pathLst>
            </a:custGeom>
            <a:noFill/>
            <a:ln w="107404">
              <a:solidFill>
                <a:srgbClr val="607D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5" name="Freeform 534"/>
            <p:cNvSpPr/>
            <p:nvPr/>
          </p:nvSpPr>
          <p:spPr>
            <a:xfrm>
              <a:off x="19811128" y="36280606"/>
              <a:ext cx="1369412" cy="886090"/>
            </a:xfrm>
            <a:custGeom>
              <a:avLst/>
              <a:gdLst/>
              <a:ahLst/>
              <a:cxnLst/>
              <a:rect l="l" t="t" r="r" b="b"/>
              <a:pathLst>
                <a:path w="51" h="33">
                  <a:moveTo>
                    <a:pt x="51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107404">
              <a:solidFill>
                <a:srgbClr val="607D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6" name="Freeform 535"/>
            <p:cNvSpPr/>
            <p:nvPr/>
          </p:nvSpPr>
          <p:spPr>
            <a:xfrm>
              <a:off x="18978740" y="36737076"/>
              <a:ext cx="1100900" cy="1315710"/>
            </a:xfrm>
            <a:custGeom>
              <a:avLst/>
              <a:gdLst/>
              <a:ahLst/>
              <a:cxnLst/>
              <a:rect l="l" t="t" r="r" b="b"/>
              <a:pathLst>
                <a:path w="41" h="49">
                  <a:moveTo>
                    <a:pt x="41" y="49"/>
                  </a:moveTo>
                  <a:lnTo>
                    <a:pt x="0" y="49"/>
                  </a:lnTo>
                  <a:lnTo>
                    <a:pt x="0" y="0"/>
                  </a:lnTo>
                  <a:lnTo>
                    <a:pt x="31" y="0"/>
                  </a:lnTo>
                </a:path>
              </a:pathLst>
            </a:custGeom>
            <a:noFill/>
            <a:ln w="107404">
              <a:solidFill>
                <a:srgbClr val="607D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7" name="Freeform 536"/>
            <p:cNvSpPr/>
            <p:nvPr/>
          </p:nvSpPr>
          <p:spPr>
            <a:xfrm>
              <a:off x="18710228" y="37408357"/>
              <a:ext cx="1691627" cy="2282354"/>
            </a:xfrm>
            <a:custGeom>
              <a:avLst/>
              <a:gdLst/>
              <a:ahLst/>
              <a:cxnLst/>
              <a:rect l="l" t="t" r="r" b="b"/>
              <a:pathLst>
                <a:path w="63" h="85">
                  <a:moveTo>
                    <a:pt x="63" y="85"/>
                  </a:moveTo>
                  <a:lnTo>
                    <a:pt x="0" y="85"/>
                  </a:lnTo>
                  <a:lnTo>
                    <a:pt x="0" y="0"/>
                  </a:lnTo>
                  <a:lnTo>
                    <a:pt x="10" y="0"/>
                  </a:lnTo>
                </a:path>
              </a:pathLst>
            </a:custGeom>
            <a:noFill/>
            <a:ln w="107404">
              <a:solidFill>
                <a:srgbClr val="607D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8" name="Freeform 537"/>
            <p:cNvSpPr/>
            <p:nvPr/>
          </p:nvSpPr>
          <p:spPr>
            <a:xfrm>
              <a:off x="21395349" y="35689879"/>
              <a:ext cx="11814536" cy="4725814"/>
            </a:xfrm>
            <a:custGeom>
              <a:avLst/>
              <a:gdLst/>
              <a:ahLst/>
              <a:cxnLst/>
              <a:rect l="l" t="t" r="r" b="b"/>
              <a:pathLst>
                <a:path w="440" h="176">
                  <a:moveTo>
                    <a:pt x="0" y="176"/>
                  </a:moveTo>
                  <a:lnTo>
                    <a:pt x="440" y="176"/>
                  </a:lnTo>
                  <a:lnTo>
                    <a:pt x="440" y="0"/>
                  </a:lnTo>
                  <a:lnTo>
                    <a:pt x="0" y="0"/>
                  </a:lnTo>
                  <a:lnTo>
                    <a:pt x="0" y="176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9" name="Freeform 538"/>
            <p:cNvSpPr/>
            <p:nvPr/>
          </p:nvSpPr>
          <p:spPr>
            <a:xfrm>
              <a:off x="21395349" y="39824967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EDBAC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0" name="Freeform 539"/>
            <p:cNvSpPr/>
            <p:nvPr/>
          </p:nvSpPr>
          <p:spPr>
            <a:xfrm>
              <a:off x="22872166" y="39824967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EAEBF2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1" name="Freeform 540"/>
            <p:cNvSpPr/>
            <p:nvPr/>
          </p:nvSpPr>
          <p:spPr>
            <a:xfrm>
              <a:off x="24348983" y="39824967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ED39C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2" name="Freeform 541"/>
            <p:cNvSpPr/>
            <p:nvPr/>
          </p:nvSpPr>
          <p:spPr>
            <a:xfrm>
              <a:off x="25825801" y="39824967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6D529C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3" name="Freeform 542"/>
            <p:cNvSpPr/>
            <p:nvPr/>
          </p:nvSpPr>
          <p:spPr>
            <a:xfrm>
              <a:off x="27302618" y="39824967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2D004B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4" name="Freeform 543"/>
            <p:cNvSpPr/>
            <p:nvPr/>
          </p:nvSpPr>
          <p:spPr>
            <a:xfrm>
              <a:off x="28779435" y="39824967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9990BF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5" name="Freeform 544"/>
            <p:cNvSpPr/>
            <p:nvPr/>
          </p:nvSpPr>
          <p:spPr>
            <a:xfrm>
              <a:off x="30256252" y="39824967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A59DC8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6" name="Freeform 545"/>
            <p:cNvSpPr/>
            <p:nvPr/>
          </p:nvSpPr>
          <p:spPr>
            <a:xfrm>
              <a:off x="31733069" y="39824967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CFCFE5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7" name="Freeform 546"/>
            <p:cNvSpPr/>
            <p:nvPr/>
          </p:nvSpPr>
          <p:spPr>
            <a:xfrm>
              <a:off x="21395349" y="39234240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BEAD2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8" name="Freeform 547"/>
            <p:cNvSpPr/>
            <p:nvPr/>
          </p:nvSpPr>
          <p:spPr>
            <a:xfrm>
              <a:off x="22872166" y="39234240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E3E4EF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9" name="Freeform 548"/>
            <p:cNvSpPr/>
            <p:nvPr/>
          </p:nvSpPr>
          <p:spPr>
            <a:xfrm>
              <a:off x="24348983" y="39234240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EAEBF2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0" name="Freeform 549"/>
            <p:cNvSpPr/>
            <p:nvPr/>
          </p:nvSpPr>
          <p:spPr>
            <a:xfrm>
              <a:off x="25825801" y="39234240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7967A6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1" name="Freeform 550"/>
            <p:cNvSpPr/>
            <p:nvPr/>
          </p:nvSpPr>
          <p:spPr>
            <a:xfrm>
              <a:off x="27302618" y="39234240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7661A4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2" name="Freeform 551"/>
            <p:cNvSpPr/>
            <p:nvPr/>
          </p:nvSpPr>
          <p:spPr>
            <a:xfrm>
              <a:off x="28779435" y="39234240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DCDDEC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3" name="Freeform 552"/>
            <p:cNvSpPr/>
            <p:nvPr/>
          </p:nvSpPr>
          <p:spPr>
            <a:xfrm>
              <a:off x="30256252" y="39234240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7D6DA9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4" name="Freeform 553"/>
            <p:cNvSpPr/>
            <p:nvPr/>
          </p:nvSpPr>
          <p:spPr>
            <a:xfrm>
              <a:off x="31733069" y="39234240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D5D6E9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5" name="Freeform 554"/>
            <p:cNvSpPr/>
            <p:nvPr/>
          </p:nvSpPr>
          <p:spPr>
            <a:xfrm>
              <a:off x="21395349" y="38643513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9F0E4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6" name="Freeform 555"/>
            <p:cNvSpPr/>
            <p:nvPr/>
          </p:nvSpPr>
          <p:spPr>
            <a:xfrm>
              <a:off x="22872166" y="38643513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DADCEC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7" name="Freeform 556"/>
            <p:cNvSpPr/>
            <p:nvPr/>
          </p:nvSpPr>
          <p:spPr>
            <a:xfrm>
              <a:off x="24348983" y="38643513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AEEDF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8" name="Freeform 557"/>
            <p:cNvSpPr/>
            <p:nvPr/>
          </p:nvSpPr>
          <p:spPr>
            <a:xfrm>
              <a:off x="25825801" y="38643513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9D94C2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9" name="Freeform 558"/>
            <p:cNvSpPr/>
            <p:nvPr/>
          </p:nvSpPr>
          <p:spPr>
            <a:xfrm>
              <a:off x="27302618" y="38643513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684998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0" name="Freeform 559"/>
            <p:cNvSpPr/>
            <p:nvPr/>
          </p:nvSpPr>
          <p:spPr>
            <a:xfrm>
              <a:off x="28779435" y="38643513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EEEEF3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1" name="Freeform 560"/>
            <p:cNvSpPr/>
            <p:nvPr/>
          </p:nvSpPr>
          <p:spPr>
            <a:xfrm>
              <a:off x="30256252" y="38643513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968BBC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2" name="Freeform 561"/>
            <p:cNvSpPr/>
            <p:nvPr/>
          </p:nvSpPr>
          <p:spPr>
            <a:xfrm>
              <a:off x="31733069" y="38643513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9F2E9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3" name="Freeform 562"/>
            <p:cNvSpPr/>
            <p:nvPr/>
          </p:nvSpPr>
          <p:spPr>
            <a:xfrm>
              <a:off x="21395349" y="38052786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ECF92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4" name="Freeform 563"/>
            <p:cNvSpPr/>
            <p:nvPr/>
          </p:nvSpPr>
          <p:spPr>
            <a:xfrm>
              <a:off x="22872166" y="38052786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C96D0D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5" name="Freeform 564"/>
            <p:cNvSpPr/>
            <p:nvPr/>
          </p:nvSpPr>
          <p:spPr>
            <a:xfrm>
              <a:off x="24348983" y="38052786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E9932D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6" name="Freeform 565"/>
            <p:cNvSpPr/>
            <p:nvPr/>
          </p:nvSpPr>
          <p:spPr>
            <a:xfrm>
              <a:off x="25825801" y="38052786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CFCFE5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7" name="Freeform 566"/>
            <p:cNvSpPr/>
            <p:nvPr/>
          </p:nvSpPr>
          <p:spPr>
            <a:xfrm>
              <a:off x="27302618" y="38052786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BEAD2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8" name="Freeform 567"/>
            <p:cNvSpPr/>
            <p:nvPr/>
          </p:nvSpPr>
          <p:spPr>
            <a:xfrm>
              <a:off x="28779435" y="38052786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A198C5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9" name="Freeform 568"/>
            <p:cNvSpPr/>
            <p:nvPr/>
          </p:nvSpPr>
          <p:spPr>
            <a:xfrm>
              <a:off x="30256252" y="38052786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7F7F6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0" name="Freeform 569"/>
            <p:cNvSpPr/>
            <p:nvPr/>
          </p:nvSpPr>
          <p:spPr>
            <a:xfrm>
              <a:off x="31733069" y="38052786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EEEEF3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1" name="Freeform 570"/>
            <p:cNvSpPr/>
            <p:nvPr/>
          </p:nvSpPr>
          <p:spPr>
            <a:xfrm>
              <a:off x="21395349" y="37462059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7F3B08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2" name="Freeform 571"/>
            <p:cNvSpPr/>
            <p:nvPr/>
          </p:nvSpPr>
          <p:spPr>
            <a:xfrm>
              <a:off x="22872166" y="37462059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8AE55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3" name="Freeform 572"/>
            <p:cNvSpPr/>
            <p:nvPr/>
          </p:nvSpPr>
          <p:spPr>
            <a:xfrm>
              <a:off x="24348983" y="37462059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D0730F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4" name="Freeform 573"/>
            <p:cNvSpPr/>
            <p:nvPr/>
          </p:nvSpPr>
          <p:spPr>
            <a:xfrm>
              <a:off x="25825801" y="37462059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9489BB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5" name="Freeform 574"/>
            <p:cNvSpPr/>
            <p:nvPr/>
          </p:nvSpPr>
          <p:spPr>
            <a:xfrm>
              <a:off x="27302618" y="37462059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E8E9F1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6" name="Freeform 575"/>
            <p:cNvSpPr/>
            <p:nvPr/>
          </p:nvSpPr>
          <p:spPr>
            <a:xfrm>
              <a:off x="28779435" y="37462059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AEEDF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7" name="Freeform 576"/>
            <p:cNvSpPr/>
            <p:nvPr/>
          </p:nvSpPr>
          <p:spPr>
            <a:xfrm>
              <a:off x="30256252" y="37462059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7F6F3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8" name="Freeform 577"/>
            <p:cNvSpPr/>
            <p:nvPr/>
          </p:nvSpPr>
          <p:spPr>
            <a:xfrm>
              <a:off x="31733069" y="37462059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BE9CF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9" name="Freeform 578"/>
            <p:cNvSpPr/>
            <p:nvPr/>
          </p:nvSpPr>
          <p:spPr>
            <a:xfrm>
              <a:off x="21395349" y="36871333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DADCEC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0" name="Freeform 579"/>
            <p:cNvSpPr/>
            <p:nvPr/>
          </p:nvSpPr>
          <p:spPr>
            <a:xfrm>
              <a:off x="22872166" y="36871333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BE9CF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1" name="Freeform 580"/>
            <p:cNvSpPr/>
            <p:nvPr/>
          </p:nvSpPr>
          <p:spPr>
            <a:xfrm>
              <a:off x="24348983" y="36871333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ED59F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2" name="Freeform 581"/>
            <p:cNvSpPr/>
            <p:nvPr/>
          </p:nvSpPr>
          <p:spPr>
            <a:xfrm>
              <a:off x="25825801" y="36871333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9F0E4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3" name="Freeform 582"/>
            <p:cNvSpPr/>
            <p:nvPr/>
          </p:nvSpPr>
          <p:spPr>
            <a:xfrm>
              <a:off x="27302618" y="36871333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9F1E6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4" name="Freeform 583"/>
            <p:cNvSpPr/>
            <p:nvPr/>
          </p:nvSpPr>
          <p:spPr>
            <a:xfrm>
              <a:off x="28779435" y="36871333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DC782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5" name="Freeform 584"/>
            <p:cNvSpPr/>
            <p:nvPr/>
          </p:nvSpPr>
          <p:spPr>
            <a:xfrm>
              <a:off x="30256252" y="36871333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BFBBDA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6" name="Freeform 585"/>
            <p:cNvSpPr/>
            <p:nvPr/>
          </p:nvSpPr>
          <p:spPr>
            <a:xfrm>
              <a:off x="31733069" y="36871333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B3ACD2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7" name="Freeform 586"/>
            <p:cNvSpPr/>
            <p:nvPr/>
          </p:nvSpPr>
          <p:spPr>
            <a:xfrm>
              <a:off x="21395349" y="36280606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BCB7D8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8" name="Freeform 587"/>
            <p:cNvSpPr/>
            <p:nvPr/>
          </p:nvSpPr>
          <p:spPr>
            <a:xfrm>
              <a:off x="22872166" y="36280606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DC885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9" name="Freeform 588"/>
            <p:cNvSpPr/>
            <p:nvPr/>
          </p:nvSpPr>
          <p:spPr>
            <a:xfrm>
              <a:off x="24348983" y="36280606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E5E7F0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0" name="Freeform 589"/>
            <p:cNvSpPr/>
            <p:nvPr/>
          </p:nvSpPr>
          <p:spPr>
            <a:xfrm>
              <a:off x="25825801" y="36280606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E5E7F0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1" name="Freeform 590"/>
            <p:cNvSpPr/>
            <p:nvPr/>
          </p:nvSpPr>
          <p:spPr>
            <a:xfrm>
              <a:off x="27302618" y="36280606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9F1E6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2" name="Freeform 591"/>
            <p:cNvSpPr/>
            <p:nvPr/>
          </p:nvSpPr>
          <p:spPr>
            <a:xfrm>
              <a:off x="28779435" y="36280606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E2E3EF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3" name="Freeform 592"/>
            <p:cNvSpPr/>
            <p:nvPr/>
          </p:nvSpPr>
          <p:spPr>
            <a:xfrm>
              <a:off x="30256252" y="36280606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EE0B6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4" name="Freeform 593"/>
            <p:cNvSpPr/>
            <p:nvPr/>
          </p:nvSpPr>
          <p:spPr>
            <a:xfrm>
              <a:off x="31733069" y="36280606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CB761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5" name="Freeform 594"/>
            <p:cNvSpPr/>
            <p:nvPr/>
          </p:nvSpPr>
          <p:spPr>
            <a:xfrm>
              <a:off x="21395349" y="35689879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7967A6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6" name="Freeform 595"/>
            <p:cNvSpPr/>
            <p:nvPr/>
          </p:nvSpPr>
          <p:spPr>
            <a:xfrm>
              <a:off x="22872166" y="35689879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C8C6E0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7" name="Freeform 596"/>
            <p:cNvSpPr/>
            <p:nvPr/>
          </p:nvSpPr>
          <p:spPr>
            <a:xfrm>
              <a:off x="24348983" y="35689879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CE7CA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8" name="Freeform 597"/>
            <p:cNvSpPr/>
            <p:nvPr/>
          </p:nvSpPr>
          <p:spPr>
            <a:xfrm>
              <a:off x="25825801" y="35689879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AFA8D0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9" name="Freeform 598"/>
            <p:cNvSpPr/>
            <p:nvPr/>
          </p:nvSpPr>
          <p:spPr>
            <a:xfrm>
              <a:off x="27302618" y="35689879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7F6F3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0" name="Freeform 599"/>
            <p:cNvSpPr/>
            <p:nvPr/>
          </p:nvSpPr>
          <p:spPr>
            <a:xfrm>
              <a:off x="28779435" y="35689879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3A649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1" name="Freeform 600"/>
            <p:cNvSpPr/>
            <p:nvPr/>
          </p:nvSpPr>
          <p:spPr>
            <a:xfrm>
              <a:off x="30256252" y="35689879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DBA68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2" name="Freeform 601"/>
            <p:cNvSpPr/>
            <p:nvPr/>
          </p:nvSpPr>
          <p:spPr>
            <a:xfrm>
              <a:off x="31733069" y="35689879"/>
              <a:ext cx="1476817" cy="590727"/>
            </a:xfrm>
            <a:custGeom>
              <a:avLst/>
              <a:gdLst/>
              <a:ahLst/>
              <a:cxnLst/>
              <a:rect l="l" t="t" r="r" b="b"/>
              <a:pathLst>
                <a:path w="55" h="22">
                  <a:moveTo>
                    <a:pt x="0" y="22"/>
                  </a:moveTo>
                  <a:lnTo>
                    <a:pt x="55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DC782"/>
            </a:solidFill>
            <a:ln w="317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3" name="Freeform 602"/>
            <p:cNvSpPr/>
            <p:nvPr/>
          </p:nvSpPr>
          <p:spPr>
            <a:xfrm>
              <a:off x="22120332" y="40415693"/>
              <a:ext cx="0" cy="214810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4" name="TextBox 603"/>
            <p:cNvSpPr txBox="1"/>
            <p:nvPr/>
          </p:nvSpPr>
          <p:spPr>
            <a:xfrm rot="18900000">
              <a:off x="21186809" y="40644334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F1</a:t>
              </a:r>
            </a:p>
          </p:txBody>
        </p:sp>
        <p:sp>
          <p:nvSpPr>
            <p:cNvPr id="605" name="Freeform 604"/>
            <p:cNvSpPr/>
            <p:nvPr/>
          </p:nvSpPr>
          <p:spPr>
            <a:xfrm>
              <a:off x="23597149" y="40415693"/>
              <a:ext cx="0" cy="214810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6" name="TextBox 605"/>
            <p:cNvSpPr txBox="1"/>
            <p:nvPr/>
          </p:nvSpPr>
          <p:spPr>
            <a:xfrm rot="18900000">
              <a:off x="22663698" y="40644334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F2</a:t>
              </a:r>
            </a:p>
          </p:txBody>
        </p:sp>
        <p:sp>
          <p:nvSpPr>
            <p:cNvPr id="607" name="Freeform 606"/>
            <p:cNvSpPr/>
            <p:nvPr/>
          </p:nvSpPr>
          <p:spPr>
            <a:xfrm>
              <a:off x="25073966" y="40415693"/>
              <a:ext cx="0" cy="214810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8" name="TextBox 607"/>
            <p:cNvSpPr txBox="1"/>
            <p:nvPr/>
          </p:nvSpPr>
          <p:spPr>
            <a:xfrm rot="18900000">
              <a:off x="24140586" y="40644334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F3</a:t>
              </a:r>
            </a:p>
          </p:txBody>
        </p:sp>
        <p:sp>
          <p:nvSpPr>
            <p:cNvPr id="609" name="Freeform 608"/>
            <p:cNvSpPr/>
            <p:nvPr/>
          </p:nvSpPr>
          <p:spPr>
            <a:xfrm>
              <a:off x="26550783" y="40415693"/>
              <a:ext cx="0" cy="214810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0" name="TextBox 609"/>
            <p:cNvSpPr txBox="1"/>
            <p:nvPr/>
          </p:nvSpPr>
          <p:spPr>
            <a:xfrm rot="18900000">
              <a:off x="25617474" y="40644334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F5</a:t>
              </a:r>
            </a:p>
          </p:txBody>
        </p:sp>
        <p:sp>
          <p:nvSpPr>
            <p:cNvPr id="611" name="Freeform 610"/>
            <p:cNvSpPr/>
            <p:nvPr/>
          </p:nvSpPr>
          <p:spPr>
            <a:xfrm>
              <a:off x="28027600" y="40415693"/>
              <a:ext cx="0" cy="214810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2" name="TextBox 611"/>
            <p:cNvSpPr txBox="1"/>
            <p:nvPr/>
          </p:nvSpPr>
          <p:spPr>
            <a:xfrm rot="18900000">
              <a:off x="27094362" y="40644334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F6</a:t>
              </a:r>
            </a:p>
          </p:txBody>
        </p:sp>
        <p:sp>
          <p:nvSpPr>
            <p:cNvPr id="613" name="Freeform 612"/>
            <p:cNvSpPr/>
            <p:nvPr/>
          </p:nvSpPr>
          <p:spPr>
            <a:xfrm>
              <a:off x="29504417" y="40415693"/>
              <a:ext cx="0" cy="214810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4" name="TextBox 613"/>
            <p:cNvSpPr txBox="1"/>
            <p:nvPr/>
          </p:nvSpPr>
          <p:spPr>
            <a:xfrm rot="18900000">
              <a:off x="28571251" y="40644334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F7</a:t>
              </a:r>
            </a:p>
          </p:txBody>
        </p:sp>
        <p:sp>
          <p:nvSpPr>
            <p:cNvPr id="615" name="Freeform 614"/>
            <p:cNvSpPr/>
            <p:nvPr/>
          </p:nvSpPr>
          <p:spPr>
            <a:xfrm>
              <a:off x="30981234" y="40415693"/>
              <a:ext cx="0" cy="214810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6" name="TextBox 615"/>
            <p:cNvSpPr txBox="1"/>
            <p:nvPr/>
          </p:nvSpPr>
          <p:spPr>
            <a:xfrm rot="18900000">
              <a:off x="30048139" y="40644334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F4</a:t>
              </a:r>
            </a:p>
          </p:txBody>
        </p:sp>
        <p:sp>
          <p:nvSpPr>
            <p:cNvPr id="617" name="Freeform 616"/>
            <p:cNvSpPr/>
            <p:nvPr/>
          </p:nvSpPr>
          <p:spPr>
            <a:xfrm>
              <a:off x="32458052" y="40415693"/>
              <a:ext cx="0" cy="214810"/>
            </a:xfrm>
            <a:custGeom>
              <a:avLst/>
              <a:gdLst/>
              <a:ahLst/>
              <a:cxnLst/>
              <a:rect l="l" t="t" r="r" b="b"/>
              <a:pathLst>
                <a:path w="0" h="8">
                  <a:moveTo>
                    <a:pt x="0" y="0"/>
                  </a:moveTo>
                  <a:lnTo>
                    <a:pt x="0" y="8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8" name="TextBox 617"/>
            <p:cNvSpPr txBox="1"/>
            <p:nvPr/>
          </p:nvSpPr>
          <p:spPr>
            <a:xfrm rot="18900000">
              <a:off x="31525027" y="40644334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F8</a:t>
              </a:r>
            </a:p>
          </p:txBody>
        </p:sp>
        <p:sp>
          <p:nvSpPr>
            <p:cNvPr id="619" name="TextBox 618"/>
            <p:cNvSpPr txBox="1"/>
            <p:nvPr/>
          </p:nvSpPr>
          <p:spPr>
            <a:xfrm>
              <a:off x="25461775" y="42155358"/>
              <a:ext cx="3665220" cy="9753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000" i="1" b="0">
                  <a:solidFill>
                    <a:srgbClr val="000000"/>
                  </a:solidFill>
                  <a:latin typeface="Calibri"/>
                </a:rPr>
                <a:t>Features</a:t>
              </a:r>
            </a:p>
          </p:txBody>
        </p:sp>
        <p:sp>
          <p:nvSpPr>
            <p:cNvPr id="620" name="Freeform 619"/>
            <p:cNvSpPr/>
            <p:nvPr/>
          </p:nvSpPr>
          <p:spPr>
            <a:xfrm>
              <a:off x="21180540" y="40120330"/>
              <a:ext cx="214810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1" name="TextBox 620"/>
            <p:cNvSpPr txBox="1"/>
            <p:nvPr/>
          </p:nvSpPr>
          <p:spPr>
            <a:xfrm>
              <a:off x="19919803" y="39761706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S4</a:t>
              </a:r>
            </a:p>
          </p:txBody>
        </p:sp>
        <p:sp>
          <p:nvSpPr>
            <p:cNvPr id="622" name="Freeform 621"/>
            <p:cNvSpPr/>
            <p:nvPr/>
          </p:nvSpPr>
          <p:spPr>
            <a:xfrm>
              <a:off x="21180540" y="39529603"/>
              <a:ext cx="214810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3" name="TextBox 622"/>
            <p:cNvSpPr txBox="1"/>
            <p:nvPr/>
          </p:nvSpPr>
          <p:spPr>
            <a:xfrm>
              <a:off x="19919803" y="39170950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S5</a:t>
              </a:r>
            </a:p>
          </p:txBody>
        </p:sp>
        <p:sp>
          <p:nvSpPr>
            <p:cNvPr id="624" name="Freeform 623"/>
            <p:cNvSpPr/>
            <p:nvPr/>
          </p:nvSpPr>
          <p:spPr>
            <a:xfrm>
              <a:off x="21180540" y="38938876"/>
              <a:ext cx="214810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5" name="TextBox 624"/>
            <p:cNvSpPr txBox="1"/>
            <p:nvPr/>
          </p:nvSpPr>
          <p:spPr>
            <a:xfrm>
              <a:off x="19919803" y="38580195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S6</a:t>
              </a:r>
            </a:p>
          </p:txBody>
        </p:sp>
        <p:sp>
          <p:nvSpPr>
            <p:cNvPr id="626" name="Freeform 625"/>
            <p:cNvSpPr/>
            <p:nvPr/>
          </p:nvSpPr>
          <p:spPr>
            <a:xfrm>
              <a:off x="21180540" y="38348150"/>
              <a:ext cx="214810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7" name="TextBox 626"/>
            <p:cNvSpPr txBox="1"/>
            <p:nvPr/>
          </p:nvSpPr>
          <p:spPr>
            <a:xfrm>
              <a:off x="19919803" y="37989440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S1</a:t>
              </a:r>
            </a:p>
          </p:txBody>
        </p:sp>
        <p:sp>
          <p:nvSpPr>
            <p:cNvPr id="628" name="Freeform 627"/>
            <p:cNvSpPr/>
            <p:nvPr/>
          </p:nvSpPr>
          <p:spPr>
            <a:xfrm>
              <a:off x="21180540" y="37757423"/>
              <a:ext cx="214810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9" name="TextBox 628"/>
            <p:cNvSpPr txBox="1"/>
            <p:nvPr/>
          </p:nvSpPr>
          <p:spPr>
            <a:xfrm>
              <a:off x="19919803" y="37398684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S2</a:t>
              </a:r>
            </a:p>
          </p:txBody>
        </p:sp>
        <p:sp>
          <p:nvSpPr>
            <p:cNvPr id="630" name="Freeform 629"/>
            <p:cNvSpPr/>
            <p:nvPr/>
          </p:nvSpPr>
          <p:spPr>
            <a:xfrm>
              <a:off x="21180540" y="37166696"/>
              <a:ext cx="214810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1" name="TextBox 630"/>
            <p:cNvSpPr txBox="1"/>
            <p:nvPr/>
          </p:nvSpPr>
          <p:spPr>
            <a:xfrm>
              <a:off x="19919803" y="36807929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S3</a:t>
              </a:r>
            </a:p>
          </p:txBody>
        </p:sp>
        <p:sp>
          <p:nvSpPr>
            <p:cNvPr id="632" name="Freeform 631"/>
            <p:cNvSpPr/>
            <p:nvPr/>
          </p:nvSpPr>
          <p:spPr>
            <a:xfrm>
              <a:off x="21180540" y="36575969"/>
              <a:ext cx="214810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3" name="TextBox 632"/>
            <p:cNvSpPr txBox="1"/>
            <p:nvPr/>
          </p:nvSpPr>
          <p:spPr>
            <a:xfrm>
              <a:off x="19919803" y="36217174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S7</a:t>
              </a:r>
            </a:p>
          </p:txBody>
        </p:sp>
        <p:sp>
          <p:nvSpPr>
            <p:cNvPr id="634" name="Freeform 633"/>
            <p:cNvSpPr/>
            <p:nvPr/>
          </p:nvSpPr>
          <p:spPr>
            <a:xfrm>
              <a:off x="21180540" y="35985242"/>
              <a:ext cx="214810" cy="0"/>
            </a:xfrm>
            <a:custGeom>
              <a:avLst/>
              <a:gdLst/>
              <a:ahLst/>
              <a:cxnLst/>
              <a:rect l="l" t="t" r="r" b="b"/>
              <a:pathLst>
                <a:path w="8" h="0">
                  <a:moveTo>
                    <a:pt x="8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5" name="TextBox 634"/>
            <p:cNvSpPr txBox="1"/>
            <p:nvPr/>
          </p:nvSpPr>
          <p:spPr>
            <a:xfrm>
              <a:off x="19919803" y="35626419"/>
              <a:ext cx="1158240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S8</a:t>
              </a:r>
            </a:p>
          </p:txBody>
        </p:sp>
        <p:sp>
          <p:nvSpPr>
            <p:cNvPr id="636" name="Freeform 635"/>
            <p:cNvSpPr/>
            <p:nvPr/>
          </p:nvSpPr>
          <p:spPr>
            <a:xfrm>
              <a:off x="21395349" y="35689879"/>
              <a:ext cx="0" cy="4725814"/>
            </a:xfrm>
            <a:custGeom>
              <a:avLst/>
              <a:gdLst/>
              <a:ahLst/>
              <a:cxnLst/>
              <a:rect l="l" t="t" r="r" b="b"/>
              <a:pathLst>
                <a:path w="0" h="176">
                  <a:moveTo>
                    <a:pt x="0" y="176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7" name="Freeform 636"/>
            <p:cNvSpPr/>
            <p:nvPr/>
          </p:nvSpPr>
          <p:spPr>
            <a:xfrm>
              <a:off x="33209886" y="35689879"/>
              <a:ext cx="0" cy="4725814"/>
            </a:xfrm>
            <a:custGeom>
              <a:avLst/>
              <a:gdLst/>
              <a:ahLst/>
              <a:cxnLst/>
              <a:rect l="l" t="t" r="r" b="b"/>
              <a:pathLst>
                <a:path w="0" h="176">
                  <a:moveTo>
                    <a:pt x="0" y="176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8" name="Freeform 637"/>
            <p:cNvSpPr/>
            <p:nvPr/>
          </p:nvSpPr>
          <p:spPr>
            <a:xfrm>
              <a:off x="21395349" y="40415693"/>
              <a:ext cx="11814536" cy="0"/>
            </a:xfrm>
            <a:custGeom>
              <a:avLst/>
              <a:gdLst/>
              <a:ahLst/>
              <a:cxnLst/>
              <a:rect l="l" t="t" r="r" b="b"/>
              <a:pathLst>
                <a:path w="440" h="0">
                  <a:moveTo>
                    <a:pt x="0" y="0"/>
                  </a:moveTo>
                  <a:lnTo>
                    <a:pt x="44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9" name="Freeform 638"/>
            <p:cNvSpPr/>
            <p:nvPr/>
          </p:nvSpPr>
          <p:spPr>
            <a:xfrm>
              <a:off x="21395349" y="35689879"/>
              <a:ext cx="11814536" cy="0"/>
            </a:xfrm>
            <a:custGeom>
              <a:avLst/>
              <a:gdLst/>
              <a:ahLst/>
              <a:cxnLst/>
              <a:rect l="l" t="t" r="r" b="b"/>
              <a:pathLst>
                <a:path w="440" h="0">
                  <a:moveTo>
                    <a:pt x="0" y="0"/>
                  </a:moveTo>
                  <a:lnTo>
                    <a:pt x="44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0" name="TextBox 639"/>
            <p:cNvSpPr txBox="1"/>
            <p:nvPr/>
          </p:nvSpPr>
          <p:spPr>
            <a:xfrm>
              <a:off x="17652873" y="32634424"/>
              <a:ext cx="14545564" cy="1235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7600" i="1" b="1">
                  <a:solidFill>
                    <a:srgbClr val="000000"/>
                  </a:solidFill>
                  <a:latin typeface="Calibri"/>
                </a:rPr>
                <a:t>h. Hierarchical clustering</a:t>
              </a:r>
            </a:p>
          </p:txBody>
        </p:sp>
      </p:grpSp>
      <p:grpSp>
        <p:nvGrpSpPr>
          <p:cNvPr id="715" name="Editable SVG panel 09: panel-09"/>
          <p:cNvGrpSpPr/>
          <p:nvPr/>
        </p:nvGrpSpPr>
        <p:grpSpPr>
          <a:xfrm>
            <a:off x="33709610" y="32628839"/>
            <a:ext cx="15667990" cy="14462761"/>
            <a:chOff x="33709610" y="32628839"/>
            <a:chExt cx="15667990" cy="14462761"/>
          </a:xfrm>
        </p:grpSpPr>
        <p:sp>
          <p:nvSpPr>
            <p:cNvPr id="642" name="Panel layout anchor: panel-09"/>
            <p:cNvSpPr/>
            <p:nvPr/>
          </p:nvSpPr>
          <p:spPr>
            <a:xfrm>
              <a:off x="33709610" y="32628839"/>
              <a:ext cx="15667989" cy="1446275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3" name="Common axes anchor: panel-09"/>
            <p:cNvSpPr/>
            <p:nvPr/>
          </p:nvSpPr>
          <p:spPr>
            <a:xfrm>
              <a:off x="38723367" y="34653626"/>
              <a:ext cx="10340873" cy="86776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4" name="Freeform 643"/>
            <p:cNvSpPr/>
            <p:nvPr/>
          </p:nvSpPr>
          <p:spPr>
            <a:xfrm>
              <a:off x="33709610" y="32628840"/>
              <a:ext cx="15667990" cy="14462760"/>
            </a:xfrm>
            <a:custGeom>
              <a:avLst/>
              <a:gdLst/>
              <a:ahLst/>
              <a:cxnLst/>
              <a:rect l="l" t="t" r="r" b="b"/>
              <a:pathLst>
                <a:path w="468" h="432">
                  <a:moveTo>
                    <a:pt x="0" y="432"/>
                  </a:moveTo>
                  <a:lnTo>
                    <a:pt x="468" y="432"/>
                  </a:lnTo>
                  <a:lnTo>
                    <a:pt x="468" y="0"/>
                  </a:lnTo>
                  <a:lnTo>
                    <a:pt x="0" y="0"/>
                  </a:lnTo>
                  <a:lnTo>
                    <a:pt x="0" y="432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5" name="Freeform 644"/>
            <p:cNvSpPr/>
            <p:nvPr/>
          </p:nvSpPr>
          <p:spPr>
            <a:xfrm>
              <a:off x="38731402" y="34637557"/>
              <a:ext cx="10344891" cy="8704439"/>
            </a:xfrm>
            <a:custGeom>
              <a:avLst/>
              <a:gdLst/>
              <a:ahLst/>
              <a:cxnLst/>
              <a:rect l="l" t="t" r="r" b="b"/>
              <a:pathLst>
                <a:path w="309" h="260">
                  <a:moveTo>
                    <a:pt x="0" y="260"/>
                  </a:moveTo>
                  <a:lnTo>
                    <a:pt x="309" y="260"/>
                  </a:lnTo>
                  <a:lnTo>
                    <a:pt x="309" y="0"/>
                  </a:lnTo>
                  <a:lnTo>
                    <a:pt x="0" y="0"/>
                  </a:lnTo>
                  <a:lnTo>
                    <a:pt x="0" y="26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6" name="Freeform 645"/>
            <p:cNvSpPr/>
            <p:nvPr/>
          </p:nvSpPr>
          <p:spPr>
            <a:xfrm>
              <a:off x="39166624" y="433419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7" name="TextBox 646"/>
            <p:cNvSpPr txBox="1"/>
            <p:nvPr/>
          </p:nvSpPr>
          <p:spPr>
            <a:xfrm>
              <a:off x="38409784" y="43606715"/>
              <a:ext cx="1542288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0.00</a:t>
              </a:r>
            </a:p>
          </p:txBody>
        </p:sp>
        <p:sp>
          <p:nvSpPr>
            <p:cNvPr id="648" name="Freeform 647"/>
            <p:cNvSpPr/>
            <p:nvPr/>
          </p:nvSpPr>
          <p:spPr>
            <a:xfrm>
              <a:off x="41476648" y="433419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9" name="TextBox 648"/>
            <p:cNvSpPr txBox="1"/>
            <p:nvPr/>
          </p:nvSpPr>
          <p:spPr>
            <a:xfrm>
              <a:off x="40697587" y="43606715"/>
              <a:ext cx="1542288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0.25</a:t>
              </a:r>
            </a:p>
          </p:txBody>
        </p:sp>
        <p:sp>
          <p:nvSpPr>
            <p:cNvPr id="650" name="Freeform 649"/>
            <p:cNvSpPr/>
            <p:nvPr/>
          </p:nvSpPr>
          <p:spPr>
            <a:xfrm>
              <a:off x="43753193" y="433419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1" name="TextBox 650"/>
            <p:cNvSpPr txBox="1"/>
            <p:nvPr/>
          </p:nvSpPr>
          <p:spPr>
            <a:xfrm>
              <a:off x="42985391" y="43606715"/>
              <a:ext cx="1542288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0.50</a:t>
              </a:r>
            </a:p>
          </p:txBody>
        </p:sp>
        <p:sp>
          <p:nvSpPr>
            <p:cNvPr id="652" name="Freeform 651"/>
            <p:cNvSpPr/>
            <p:nvPr/>
          </p:nvSpPr>
          <p:spPr>
            <a:xfrm>
              <a:off x="46029739" y="433419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3" name="TextBox 652"/>
            <p:cNvSpPr txBox="1"/>
            <p:nvPr/>
          </p:nvSpPr>
          <p:spPr>
            <a:xfrm>
              <a:off x="45273195" y="43606715"/>
              <a:ext cx="1542288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0.75</a:t>
              </a:r>
            </a:p>
          </p:txBody>
        </p:sp>
        <p:sp>
          <p:nvSpPr>
            <p:cNvPr id="654" name="Freeform 653"/>
            <p:cNvSpPr/>
            <p:nvPr/>
          </p:nvSpPr>
          <p:spPr>
            <a:xfrm>
              <a:off x="48339763" y="43341996"/>
              <a:ext cx="0" cy="234350"/>
            </a:xfrm>
            <a:custGeom>
              <a:avLst/>
              <a:gdLst/>
              <a:ahLst/>
              <a:cxnLst/>
              <a:rect l="l" t="t" r="r" b="b"/>
              <a:pathLst>
                <a:path w="0" h="7">
                  <a:moveTo>
                    <a:pt x="0" y="0"/>
                  </a:moveTo>
                  <a:lnTo>
                    <a:pt x="0" y="7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5" name="TextBox 654"/>
            <p:cNvSpPr txBox="1"/>
            <p:nvPr/>
          </p:nvSpPr>
          <p:spPr>
            <a:xfrm>
              <a:off x="47560999" y="43606715"/>
              <a:ext cx="1542288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1.00</a:t>
              </a:r>
            </a:p>
          </p:txBody>
        </p:sp>
        <p:sp>
          <p:nvSpPr>
            <p:cNvPr id="656" name="TextBox 655"/>
            <p:cNvSpPr txBox="1"/>
            <p:nvPr/>
          </p:nvSpPr>
          <p:spPr>
            <a:xfrm>
              <a:off x="41626854" y="44377825"/>
              <a:ext cx="4533900" cy="9753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000" i="1" b="0">
                  <a:solidFill>
                    <a:srgbClr val="000000"/>
                  </a:solidFill>
                  <a:latin typeface="Calibri"/>
                </a:rPr>
                <a:t>Confidence</a:t>
              </a:r>
            </a:p>
          </p:txBody>
        </p:sp>
        <p:sp>
          <p:nvSpPr>
            <p:cNvPr id="657" name="Freeform 656"/>
            <p:cNvSpPr/>
            <p:nvPr/>
          </p:nvSpPr>
          <p:spPr>
            <a:xfrm>
              <a:off x="38731402" y="43341996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8" name="Freeform 657"/>
            <p:cNvSpPr/>
            <p:nvPr/>
          </p:nvSpPr>
          <p:spPr>
            <a:xfrm>
              <a:off x="38497051" y="43341996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9" name="TextBox 658"/>
            <p:cNvSpPr txBox="1"/>
            <p:nvPr/>
          </p:nvSpPr>
          <p:spPr>
            <a:xfrm>
              <a:off x="37198547" y="42995293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0.0</a:t>
              </a:r>
            </a:p>
          </p:txBody>
        </p:sp>
        <p:sp>
          <p:nvSpPr>
            <p:cNvPr id="660" name="Freeform 659"/>
            <p:cNvSpPr/>
            <p:nvPr/>
          </p:nvSpPr>
          <p:spPr>
            <a:xfrm>
              <a:off x="38731402" y="41433715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1" name="Freeform 660"/>
            <p:cNvSpPr/>
            <p:nvPr/>
          </p:nvSpPr>
          <p:spPr>
            <a:xfrm>
              <a:off x="38497051" y="41433715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2" name="TextBox 661"/>
            <p:cNvSpPr txBox="1"/>
            <p:nvPr/>
          </p:nvSpPr>
          <p:spPr>
            <a:xfrm>
              <a:off x="37198547" y="41108846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0.5</a:t>
              </a:r>
            </a:p>
          </p:txBody>
        </p:sp>
        <p:sp>
          <p:nvSpPr>
            <p:cNvPr id="663" name="Freeform 662"/>
            <p:cNvSpPr/>
            <p:nvPr/>
          </p:nvSpPr>
          <p:spPr>
            <a:xfrm>
              <a:off x="38731402" y="39558912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4" name="Freeform 663"/>
            <p:cNvSpPr/>
            <p:nvPr/>
          </p:nvSpPr>
          <p:spPr>
            <a:xfrm>
              <a:off x="38497051" y="39558912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5" name="TextBox 664"/>
            <p:cNvSpPr txBox="1"/>
            <p:nvPr/>
          </p:nvSpPr>
          <p:spPr>
            <a:xfrm>
              <a:off x="37198547" y="39222399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1.0</a:t>
              </a:r>
            </a:p>
          </p:txBody>
        </p:sp>
        <p:sp>
          <p:nvSpPr>
            <p:cNvPr id="666" name="Freeform 665"/>
            <p:cNvSpPr/>
            <p:nvPr/>
          </p:nvSpPr>
          <p:spPr>
            <a:xfrm>
              <a:off x="38731402" y="37684110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7" name="Freeform 666"/>
            <p:cNvSpPr/>
            <p:nvPr/>
          </p:nvSpPr>
          <p:spPr>
            <a:xfrm>
              <a:off x="38497051" y="37684110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8" name="TextBox 667"/>
            <p:cNvSpPr txBox="1"/>
            <p:nvPr/>
          </p:nvSpPr>
          <p:spPr>
            <a:xfrm>
              <a:off x="37198547" y="37335952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1.5</a:t>
              </a:r>
            </a:p>
          </p:txBody>
        </p:sp>
        <p:sp>
          <p:nvSpPr>
            <p:cNvPr id="669" name="Freeform 668"/>
            <p:cNvSpPr/>
            <p:nvPr/>
          </p:nvSpPr>
          <p:spPr>
            <a:xfrm>
              <a:off x="38731402" y="35775829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6957">
              <a:solidFill>
                <a:srgbClr val="D9D9D9">
                  <a:alpha val="85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0" name="Freeform 669"/>
            <p:cNvSpPr/>
            <p:nvPr/>
          </p:nvSpPr>
          <p:spPr>
            <a:xfrm>
              <a:off x="38497051" y="35775829"/>
              <a:ext cx="234350" cy="0"/>
            </a:xfrm>
            <a:custGeom>
              <a:avLst/>
              <a:gdLst/>
              <a:ahLst/>
              <a:cxnLst/>
              <a:rect l="l" t="t" r="r" b="b"/>
              <a:pathLst>
                <a:path w="7" h="0">
                  <a:moveTo>
                    <a:pt x="7" y="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1" name="TextBox 670"/>
            <p:cNvSpPr txBox="1"/>
            <p:nvPr/>
          </p:nvSpPr>
          <p:spPr>
            <a:xfrm>
              <a:off x="37198547" y="35449505"/>
              <a:ext cx="119481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2.0</a:t>
              </a:r>
            </a:p>
          </p:txBody>
        </p:sp>
        <p:sp>
          <p:nvSpPr>
            <p:cNvPr id="672" name="TextBox 671"/>
            <p:cNvSpPr txBox="1"/>
            <p:nvPr/>
          </p:nvSpPr>
          <p:spPr>
            <a:xfrm>
              <a:off x="36662503" y="35422484"/>
              <a:ext cx="975360" cy="7139940"/>
            </a:xfrm>
            <a:prstGeom prst="rect">
              <a:avLst/>
            </a:prstGeom>
            <a:noFill/>
          </p:spPr>
          <p:txBody>
            <a:bodyPr wrap="none" lIns="0" rIns="0" tIns="0" bIns="0" anchor="ctr" vert="vert27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6000" i="1" b="0">
                  <a:solidFill>
                    <a:srgbClr val="000000"/>
                  </a:solidFill>
                  <a:latin typeface="Calibri"/>
                </a:rPr>
                <a:t>Calibration loss</a:t>
              </a:r>
            </a:p>
          </p:txBody>
        </p:sp>
        <p:sp>
          <p:nvSpPr>
            <p:cNvPr id="673" name="Freeform 672"/>
            <p:cNvSpPr/>
            <p:nvPr/>
          </p:nvSpPr>
          <p:spPr>
            <a:xfrm>
              <a:off x="39166624" y="39860220"/>
              <a:ext cx="9173139" cy="2745246"/>
            </a:xfrm>
            <a:custGeom>
              <a:avLst/>
              <a:gdLst/>
              <a:ahLst/>
              <a:cxnLst/>
              <a:rect l="l" t="t" r="r" b="b"/>
              <a:pathLst>
                <a:path w="274" h="82">
                  <a:moveTo>
                    <a:pt x="0" y="0"/>
                  </a:moveTo>
                  <a:lnTo>
                    <a:pt x="35" y="43"/>
                  </a:lnTo>
                  <a:lnTo>
                    <a:pt x="69" y="59"/>
                  </a:lnTo>
                  <a:lnTo>
                    <a:pt x="103" y="71"/>
                  </a:lnTo>
                  <a:lnTo>
                    <a:pt x="137" y="81"/>
                  </a:lnTo>
                  <a:lnTo>
                    <a:pt x="171" y="82"/>
                  </a:lnTo>
                  <a:lnTo>
                    <a:pt x="205" y="70"/>
                  </a:lnTo>
                  <a:lnTo>
                    <a:pt x="240" y="41"/>
                  </a:lnTo>
                  <a:lnTo>
                    <a:pt x="274" y="17"/>
                  </a:lnTo>
                </a:path>
              </a:pathLst>
            </a:custGeom>
            <a:noFill/>
            <a:ln w="133914">
              <a:solidFill>
                <a:srgbClr val="42A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4" name="Freeform 673"/>
            <p:cNvSpPr/>
            <p:nvPr/>
          </p:nvSpPr>
          <p:spPr>
            <a:xfrm>
              <a:off x="39032709" y="39692827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4" y="9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8"/>
                  </a:lnTo>
                  <a:lnTo>
                    <a:pt x="8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8" y="3"/>
                  </a:lnTo>
                  <a:lnTo>
                    <a:pt x="8" y="2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3" y="9"/>
                  </a:lnTo>
                  <a:lnTo>
                    <a:pt x="4" y="9"/>
                  </a:lnTo>
                  <a:lnTo>
                    <a:pt x="4" y="9"/>
                  </a:lnTo>
                  <a:close/>
                </a:path>
              </a:pathLst>
            </a:custGeom>
            <a:solidFill>
              <a:srgbClr val="42A6F5"/>
            </a:solidFill>
            <a:ln w="33478">
              <a:solidFill>
                <a:srgbClr val="42A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5" name="Freeform 674"/>
            <p:cNvSpPr/>
            <p:nvPr/>
          </p:nvSpPr>
          <p:spPr>
            <a:xfrm>
              <a:off x="40170982" y="41132407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5" y="9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8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42A6F5"/>
            </a:solidFill>
            <a:ln w="33478">
              <a:solidFill>
                <a:srgbClr val="42A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6" name="Freeform 675"/>
            <p:cNvSpPr/>
            <p:nvPr/>
          </p:nvSpPr>
          <p:spPr>
            <a:xfrm>
              <a:off x="41309255" y="41668065"/>
              <a:ext cx="301308" cy="334786"/>
            </a:xfrm>
            <a:custGeom>
              <a:avLst/>
              <a:gdLst/>
              <a:ahLst/>
              <a:cxnLst/>
              <a:rect l="l" t="t" r="r" b="b"/>
              <a:pathLst>
                <a:path w="9" h="10">
                  <a:moveTo>
                    <a:pt x="5" y="10"/>
                  </a:moveTo>
                  <a:lnTo>
                    <a:pt x="6" y="9"/>
                  </a:lnTo>
                  <a:lnTo>
                    <a:pt x="6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8" y="8"/>
                  </a:lnTo>
                  <a:lnTo>
                    <a:pt x="9" y="7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8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42A6F5"/>
            </a:solidFill>
            <a:ln w="33478">
              <a:solidFill>
                <a:srgbClr val="42A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7" name="Freeform 676"/>
            <p:cNvSpPr/>
            <p:nvPr/>
          </p:nvSpPr>
          <p:spPr>
            <a:xfrm>
              <a:off x="42481006" y="42103287"/>
              <a:ext cx="267829" cy="301308"/>
            </a:xfrm>
            <a:custGeom>
              <a:avLst/>
              <a:gdLst/>
              <a:ahLst/>
              <a:cxnLst/>
              <a:rect l="l" t="t" r="r" b="b"/>
              <a:pathLst>
                <a:path w="8" h="9">
                  <a:moveTo>
                    <a:pt x="4" y="9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6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6"/>
                  </a:lnTo>
                  <a:lnTo>
                    <a:pt x="8" y="5"/>
                  </a:lnTo>
                  <a:lnTo>
                    <a:pt x="8" y="4"/>
                  </a:lnTo>
                  <a:lnTo>
                    <a:pt x="8" y="3"/>
                  </a:lnTo>
                  <a:lnTo>
                    <a:pt x="8" y="3"/>
                  </a:lnTo>
                  <a:lnTo>
                    <a:pt x="7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close/>
                </a:path>
              </a:pathLst>
            </a:custGeom>
            <a:solidFill>
              <a:srgbClr val="42A6F5"/>
            </a:solidFill>
            <a:ln w="33478">
              <a:solidFill>
                <a:srgbClr val="42A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8" name="Freeform 677"/>
            <p:cNvSpPr/>
            <p:nvPr/>
          </p:nvSpPr>
          <p:spPr>
            <a:xfrm>
              <a:off x="43619279" y="42438073"/>
              <a:ext cx="267829" cy="301308"/>
            </a:xfrm>
            <a:custGeom>
              <a:avLst/>
              <a:gdLst/>
              <a:ahLst/>
              <a:cxnLst/>
              <a:rect l="l" t="t" r="r" b="b"/>
              <a:pathLst>
                <a:path w="8" h="9">
                  <a:moveTo>
                    <a:pt x="4" y="9"/>
                  </a:moveTo>
                  <a:lnTo>
                    <a:pt x="5" y="9"/>
                  </a:lnTo>
                  <a:lnTo>
                    <a:pt x="6" y="8"/>
                  </a:lnTo>
                  <a:lnTo>
                    <a:pt x="6" y="8"/>
                  </a:lnTo>
                  <a:lnTo>
                    <a:pt x="7" y="7"/>
                  </a:lnTo>
                  <a:lnTo>
                    <a:pt x="8" y="7"/>
                  </a:lnTo>
                  <a:lnTo>
                    <a:pt x="8" y="6"/>
                  </a:lnTo>
                  <a:lnTo>
                    <a:pt x="8" y="5"/>
                  </a:lnTo>
                  <a:lnTo>
                    <a:pt x="8" y="4"/>
                  </a:lnTo>
                  <a:lnTo>
                    <a:pt x="8" y="3"/>
                  </a:lnTo>
                  <a:lnTo>
                    <a:pt x="8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3" y="9"/>
                  </a:lnTo>
                  <a:lnTo>
                    <a:pt x="4" y="9"/>
                  </a:lnTo>
                  <a:close/>
                </a:path>
              </a:pathLst>
            </a:custGeom>
            <a:solidFill>
              <a:srgbClr val="42A6F5"/>
            </a:solidFill>
            <a:ln w="33478">
              <a:solidFill>
                <a:srgbClr val="42A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9" name="Freeform 678"/>
            <p:cNvSpPr/>
            <p:nvPr/>
          </p:nvSpPr>
          <p:spPr>
            <a:xfrm>
              <a:off x="44757552" y="42438073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4" y="9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8" y="7"/>
                  </a:lnTo>
                  <a:lnTo>
                    <a:pt x="8" y="7"/>
                  </a:lnTo>
                  <a:lnTo>
                    <a:pt x="8" y="6"/>
                  </a:lnTo>
                  <a:lnTo>
                    <a:pt x="9" y="5"/>
                  </a:lnTo>
                  <a:lnTo>
                    <a:pt x="8" y="4"/>
                  </a:lnTo>
                  <a:lnTo>
                    <a:pt x="8" y="3"/>
                  </a:lnTo>
                  <a:lnTo>
                    <a:pt x="8" y="2"/>
                  </a:lnTo>
                  <a:lnTo>
                    <a:pt x="7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4" y="9"/>
                  </a:lnTo>
                  <a:close/>
                </a:path>
              </a:pathLst>
            </a:custGeom>
            <a:solidFill>
              <a:srgbClr val="42A6F5"/>
            </a:solidFill>
            <a:ln w="33478">
              <a:solidFill>
                <a:srgbClr val="42A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0" name="Freeform 679"/>
            <p:cNvSpPr/>
            <p:nvPr/>
          </p:nvSpPr>
          <p:spPr>
            <a:xfrm>
              <a:off x="45895824" y="42036330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4" y="9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8" y="7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8" y="3"/>
                  </a:lnTo>
                  <a:lnTo>
                    <a:pt x="8" y="2"/>
                  </a:lnTo>
                  <a:lnTo>
                    <a:pt x="7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4" y="9"/>
                  </a:lnTo>
                  <a:close/>
                </a:path>
              </a:pathLst>
            </a:custGeom>
            <a:solidFill>
              <a:srgbClr val="42A6F5"/>
            </a:solidFill>
            <a:ln w="33478">
              <a:solidFill>
                <a:srgbClr val="42A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1" name="Freeform 680"/>
            <p:cNvSpPr/>
            <p:nvPr/>
          </p:nvSpPr>
          <p:spPr>
            <a:xfrm>
              <a:off x="47034097" y="41098929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5" y="9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3"/>
                  </a:lnTo>
                  <a:lnTo>
                    <a:pt x="8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42A6F5"/>
            </a:solidFill>
            <a:ln w="33478">
              <a:solidFill>
                <a:srgbClr val="42A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2" name="Freeform 681"/>
            <p:cNvSpPr/>
            <p:nvPr/>
          </p:nvSpPr>
          <p:spPr>
            <a:xfrm>
              <a:off x="48172370" y="40295442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5" y="9"/>
                  </a:moveTo>
                  <a:lnTo>
                    <a:pt x="6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3"/>
                  </a:lnTo>
                  <a:lnTo>
                    <a:pt x="8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4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42A6F5"/>
            </a:solidFill>
            <a:ln w="33478">
              <a:solidFill>
                <a:srgbClr val="42A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3" name="Freeform 682"/>
            <p:cNvSpPr/>
            <p:nvPr/>
          </p:nvSpPr>
          <p:spPr>
            <a:xfrm>
              <a:off x="39166624" y="38152811"/>
              <a:ext cx="9173139" cy="4586570"/>
            </a:xfrm>
            <a:custGeom>
              <a:avLst/>
              <a:gdLst/>
              <a:ahLst/>
              <a:cxnLst/>
              <a:rect l="l" t="t" r="r" b="b"/>
              <a:pathLst>
                <a:path w="274" h="137">
                  <a:moveTo>
                    <a:pt x="0" y="0"/>
                  </a:moveTo>
                  <a:lnTo>
                    <a:pt x="35" y="45"/>
                  </a:lnTo>
                  <a:lnTo>
                    <a:pt x="69" y="81"/>
                  </a:lnTo>
                  <a:lnTo>
                    <a:pt x="103" y="105"/>
                  </a:lnTo>
                  <a:lnTo>
                    <a:pt x="137" y="121"/>
                  </a:lnTo>
                  <a:lnTo>
                    <a:pt x="171" y="132"/>
                  </a:lnTo>
                  <a:lnTo>
                    <a:pt x="205" y="137"/>
                  </a:lnTo>
                  <a:lnTo>
                    <a:pt x="240" y="120"/>
                  </a:lnTo>
                  <a:lnTo>
                    <a:pt x="274" y="100"/>
                  </a:lnTo>
                </a:path>
              </a:pathLst>
            </a:custGeom>
            <a:noFill/>
            <a:ln w="133914">
              <a:solidFill>
                <a:srgbClr val="4CAF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4" name="Freeform 683"/>
            <p:cNvSpPr/>
            <p:nvPr/>
          </p:nvSpPr>
          <p:spPr>
            <a:xfrm>
              <a:off x="39032709" y="37985418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4" y="9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8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8" y="3"/>
                  </a:lnTo>
                  <a:lnTo>
                    <a:pt x="8" y="2"/>
                  </a:lnTo>
                  <a:lnTo>
                    <a:pt x="7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4" y="9"/>
                  </a:lnTo>
                  <a:close/>
                </a:path>
              </a:pathLst>
            </a:custGeom>
            <a:solidFill>
              <a:srgbClr val="4CAF50"/>
            </a:solidFill>
            <a:ln w="33478">
              <a:solidFill>
                <a:srgbClr val="4CAF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5" name="Freeform 684"/>
            <p:cNvSpPr/>
            <p:nvPr/>
          </p:nvSpPr>
          <p:spPr>
            <a:xfrm>
              <a:off x="40170982" y="39491955"/>
              <a:ext cx="301308" cy="334786"/>
            </a:xfrm>
            <a:custGeom>
              <a:avLst/>
              <a:gdLst/>
              <a:ahLst/>
              <a:cxnLst/>
              <a:rect l="l" t="t" r="r" b="b"/>
              <a:pathLst>
                <a:path w="9" h="10">
                  <a:moveTo>
                    <a:pt x="5" y="10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7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8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4CAF50"/>
            </a:solidFill>
            <a:ln w="33478">
              <a:solidFill>
                <a:srgbClr val="4CAF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6" name="Freeform 685"/>
            <p:cNvSpPr/>
            <p:nvPr/>
          </p:nvSpPr>
          <p:spPr>
            <a:xfrm>
              <a:off x="41309255" y="40697185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5" y="9"/>
                  </a:moveTo>
                  <a:lnTo>
                    <a:pt x="6" y="9"/>
                  </a:lnTo>
                  <a:lnTo>
                    <a:pt x="6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7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8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4CAF50"/>
            </a:solidFill>
            <a:ln w="33478">
              <a:solidFill>
                <a:srgbClr val="4CAF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7" name="Freeform 686"/>
            <p:cNvSpPr/>
            <p:nvPr/>
          </p:nvSpPr>
          <p:spPr>
            <a:xfrm>
              <a:off x="42481006" y="41534151"/>
              <a:ext cx="267829" cy="301308"/>
            </a:xfrm>
            <a:custGeom>
              <a:avLst/>
              <a:gdLst/>
              <a:ahLst/>
              <a:cxnLst/>
              <a:rect l="l" t="t" r="r" b="b"/>
              <a:pathLst>
                <a:path w="8" h="9">
                  <a:moveTo>
                    <a:pt x="4" y="9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6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6"/>
                  </a:lnTo>
                  <a:lnTo>
                    <a:pt x="8" y="5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3"/>
                  </a:lnTo>
                  <a:lnTo>
                    <a:pt x="7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close/>
                </a:path>
              </a:pathLst>
            </a:custGeom>
            <a:solidFill>
              <a:srgbClr val="4CAF50"/>
            </a:solidFill>
            <a:ln w="33478">
              <a:solidFill>
                <a:srgbClr val="4CAF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8" name="Freeform 687"/>
            <p:cNvSpPr/>
            <p:nvPr/>
          </p:nvSpPr>
          <p:spPr>
            <a:xfrm>
              <a:off x="43619279" y="42069808"/>
              <a:ext cx="267829" cy="301308"/>
            </a:xfrm>
            <a:custGeom>
              <a:avLst/>
              <a:gdLst/>
              <a:ahLst/>
              <a:cxnLst/>
              <a:rect l="l" t="t" r="r" b="b"/>
              <a:pathLst>
                <a:path w="8" h="9">
                  <a:moveTo>
                    <a:pt x="4" y="9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6" y="8"/>
                  </a:lnTo>
                  <a:lnTo>
                    <a:pt x="7" y="8"/>
                  </a:lnTo>
                  <a:lnTo>
                    <a:pt x="8" y="7"/>
                  </a:lnTo>
                  <a:lnTo>
                    <a:pt x="8" y="6"/>
                  </a:lnTo>
                  <a:lnTo>
                    <a:pt x="8" y="5"/>
                  </a:lnTo>
                  <a:lnTo>
                    <a:pt x="8" y="4"/>
                  </a:lnTo>
                  <a:lnTo>
                    <a:pt x="8" y="3"/>
                  </a:lnTo>
                  <a:lnTo>
                    <a:pt x="8" y="3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close/>
                </a:path>
              </a:pathLst>
            </a:custGeom>
            <a:solidFill>
              <a:srgbClr val="4CAF50"/>
            </a:solidFill>
            <a:ln w="33478">
              <a:solidFill>
                <a:srgbClr val="4CAF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9" name="Freeform 688"/>
            <p:cNvSpPr/>
            <p:nvPr/>
          </p:nvSpPr>
          <p:spPr>
            <a:xfrm>
              <a:off x="44757552" y="42438073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4" y="9"/>
                  </a:moveTo>
                  <a:lnTo>
                    <a:pt x="5" y="9"/>
                  </a:lnTo>
                  <a:lnTo>
                    <a:pt x="6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7"/>
                  </a:lnTo>
                  <a:lnTo>
                    <a:pt x="8" y="6"/>
                  </a:lnTo>
                  <a:lnTo>
                    <a:pt x="8" y="5"/>
                  </a:lnTo>
                  <a:lnTo>
                    <a:pt x="9" y="4"/>
                  </a:lnTo>
                  <a:lnTo>
                    <a:pt x="8" y="3"/>
                  </a:lnTo>
                  <a:lnTo>
                    <a:pt x="8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3" y="8"/>
                  </a:lnTo>
                  <a:lnTo>
                    <a:pt x="3" y="9"/>
                  </a:lnTo>
                  <a:lnTo>
                    <a:pt x="4" y="9"/>
                  </a:lnTo>
                  <a:close/>
                </a:path>
              </a:pathLst>
            </a:custGeom>
            <a:solidFill>
              <a:srgbClr val="4CAF50"/>
            </a:solidFill>
            <a:ln w="33478">
              <a:solidFill>
                <a:srgbClr val="4CAF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0" name="Freeform 689"/>
            <p:cNvSpPr/>
            <p:nvPr/>
          </p:nvSpPr>
          <p:spPr>
            <a:xfrm>
              <a:off x="45895824" y="42571988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4" y="9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8" y="7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8" y="3"/>
                  </a:lnTo>
                  <a:lnTo>
                    <a:pt x="8" y="2"/>
                  </a:lnTo>
                  <a:lnTo>
                    <a:pt x="7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4" y="9"/>
                  </a:lnTo>
                  <a:close/>
                </a:path>
              </a:pathLst>
            </a:custGeom>
            <a:solidFill>
              <a:srgbClr val="4CAF50"/>
            </a:solidFill>
            <a:ln w="33478">
              <a:solidFill>
                <a:srgbClr val="4CAF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1" name="Freeform 690"/>
            <p:cNvSpPr/>
            <p:nvPr/>
          </p:nvSpPr>
          <p:spPr>
            <a:xfrm>
              <a:off x="47034097" y="42002851"/>
              <a:ext cx="301308" cy="334786"/>
            </a:xfrm>
            <a:custGeom>
              <a:avLst/>
              <a:gdLst/>
              <a:ahLst/>
              <a:cxnLst/>
              <a:rect l="l" t="t" r="r" b="b"/>
              <a:pathLst>
                <a:path w="9" h="10">
                  <a:moveTo>
                    <a:pt x="5" y="10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7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8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4CAF50"/>
            </a:solidFill>
            <a:ln w="33478">
              <a:solidFill>
                <a:srgbClr val="4CAF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2" name="Freeform 691"/>
            <p:cNvSpPr/>
            <p:nvPr/>
          </p:nvSpPr>
          <p:spPr>
            <a:xfrm>
              <a:off x="48172370" y="41333279"/>
              <a:ext cx="301308" cy="334786"/>
            </a:xfrm>
            <a:custGeom>
              <a:avLst/>
              <a:gdLst/>
              <a:ahLst/>
              <a:cxnLst/>
              <a:rect l="l" t="t" r="r" b="b"/>
              <a:pathLst>
                <a:path w="9" h="10">
                  <a:moveTo>
                    <a:pt x="5" y="10"/>
                  </a:moveTo>
                  <a:lnTo>
                    <a:pt x="6" y="9"/>
                  </a:lnTo>
                  <a:lnTo>
                    <a:pt x="6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8" y="8"/>
                  </a:lnTo>
                  <a:lnTo>
                    <a:pt x="9" y="7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8" y="3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4CAF50"/>
            </a:solidFill>
            <a:ln w="33478">
              <a:solidFill>
                <a:srgbClr val="4CAF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3" name="Freeform 692"/>
            <p:cNvSpPr/>
            <p:nvPr/>
          </p:nvSpPr>
          <p:spPr>
            <a:xfrm>
              <a:off x="39166624" y="39123691"/>
              <a:ext cx="9173139" cy="3481776"/>
            </a:xfrm>
            <a:custGeom>
              <a:avLst/>
              <a:gdLst/>
              <a:ahLst/>
              <a:cxnLst/>
              <a:rect l="l" t="t" r="r" b="b"/>
              <a:pathLst>
                <a:path w="274" h="104">
                  <a:moveTo>
                    <a:pt x="0" y="58"/>
                  </a:moveTo>
                  <a:lnTo>
                    <a:pt x="35" y="84"/>
                  </a:lnTo>
                  <a:lnTo>
                    <a:pt x="69" y="97"/>
                  </a:lnTo>
                  <a:lnTo>
                    <a:pt x="103" y="104"/>
                  </a:lnTo>
                  <a:lnTo>
                    <a:pt x="137" y="103"/>
                  </a:lnTo>
                  <a:lnTo>
                    <a:pt x="171" y="82"/>
                  </a:lnTo>
                  <a:lnTo>
                    <a:pt x="205" y="61"/>
                  </a:lnTo>
                  <a:lnTo>
                    <a:pt x="240" y="31"/>
                  </a:lnTo>
                  <a:lnTo>
                    <a:pt x="274" y="0"/>
                  </a:lnTo>
                </a:path>
              </a:pathLst>
            </a:custGeom>
            <a:noFill/>
            <a:ln w="133914">
              <a:solidFill>
                <a:srgbClr val="FF9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4" name="Freeform 693"/>
            <p:cNvSpPr/>
            <p:nvPr/>
          </p:nvSpPr>
          <p:spPr>
            <a:xfrm>
              <a:off x="39032709" y="40898057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4" y="9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8"/>
                  </a:lnTo>
                  <a:lnTo>
                    <a:pt x="8" y="7"/>
                  </a:lnTo>
                  <a:lnTo>
                    <a:pt x="8" y="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4"/>
                  </a:lnTo>
                  <a:lnTo>
                    <a:pt x="8" y="3"/>
                  </a:lnTo>
                  <a:lnTo>
                    <a:pt x="8" y="2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3" y="9"/>
                  </a:lnTo>
                  <a:lnTo>
                    <a:pt x="4" y="9"/>
                  </a:lnTo>
                  <a:lnTo>
                    <a:pt x="4" y="9"/>
                  </a:lnTo>
                  <a:close/>
                </a:path>
              </a:pathLst>
            </a:custGeom>
            <a:solidFill>
              <a:srgbClr val="FF9800"/>
            </a:solidFill>
            <a:ln w="33478">
              <a:solidFill>
                <a:srgbClr val="FF9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5" name="Freeform 694"/>
            <p:cNvSpPr/>
            <p:nvPr/>
          </p:nvSpPr>
          <p:spPr>
            <a:xfrm>
              <a:off x="40170982" y="41801979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5" y="9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3"/>
                  </a:lnTo>
                  <a:lnTo>
                    <a:pt x="8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FF9800"/>
            </a:solidFill>
            <a:ln w="33478">
              <a:solidFill>
                <a:srgbClr val="FF9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6" name="Freeform 695"/>
            <p:cNvSpPr/>
            <p:nvPr/>
          </p:nvSpPr>
          <p:spPr>
            <a:xfrm>
              <a:off x="41309255" y="42237201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5" y="9"/>
                  </a:moveTo>
                  <a:lnTo>
                    <a:pt x="6" y="9"/>
                  </a:lnTo>
                  <a:lnTo>
                    <a:pt x="6" y="8"/>
                  </a:lnTo>
                  <a:lnTo>
                    <a:pt x="7" y="8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9" y="3"/>
                  </a:lnTo>
                  <a:lnTo>
                    <a:pt x="8" y="2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3" y="8"/>
                  </a:lnTo>
                  <a:lnTo>
                    <a:pt x="4" y="9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FF9800"/>
            </a:solidFill>
            <a:ln w="33478">
              <a:solidFill>
                <a:srgbClr val="FF9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7" name="Freeform 696"/>
            <p:cNvSpPr/>
            <p:nvPr/>
          </p:nvSpPr>
          <p:spPr>
            <a:xfrm>
              <a:off x="42481006" y="42471552"/>
              <a:ext cx="267829" cy="301308"/>
            </a:xfrm>
            <a:custGeom>
              <a:avLst/>
              <a:gdLst/>
              <a:ahLst/>
              <a:cxnLst/>
              <a:rect l="l" t="t" r="r" b="b"/>
              <a:pathLst>
                <a:path w="8" h="9">
                  <a:moveTo>
                    <a:pt x="4" y="9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6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6"/>
                  </a:lnTo>
                  <a:lnTo>
                    <a:pt x="8" y="5"/>
                  </a:lnTo>
                  <a:lnTo>
                    <a:pt x="8" y="4"/>
                  </a:lnTo>
                  <a:lnTo>
                    <a:pt x="8" y="3"/>
                  </a:lnTo>
                  <a:lnTo>
                    <a:pt x="8" y="3"/>
                  </a:lnTo>
                  <a:lnTo>
                    <a:pt x="7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close/>
                </a:path>
              </a:pathLst>
            </a:custGeom>
            <a:solidFill>
              <a:srgbClr val="FF9800"/>
            </a:solidFill>
            <a:ln w="33478">
              <a:solidFill>
                <a:srgbClr val="FF9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8" name="Freeform 697"/>
            <p:cNvSpPr/>
            <p:nvPr/>
          </p:nvSpPr>
          <p:spPr>
            <a:xfrm>
              <a:off x="43619279" y="42438073"/>
              <a:ext cx="267829" cy="301308"/>
            </a:xfrm>
            <a:custGeom>
              <a:avLst/>
              <a:gdLst/>
              <a:ahLst/>
              <a:cxnLst/>
              <a:rect l="l" t="t" r="r" b="b"/>
              <a:pathLst>
                <a:path w="8" h="9">
                  <a:moveTo>
                    <a:pt x="4" y="9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6" y="8"/>
                  </a:lnTo>
                  <a:lnTo>
                    <a:pt x="7" y="8"/>
                  </a:lnTo>
                  <a:lnTo>
                    <a:pt x="8" y="7"/>
                  </a:lnTo>
                  <a:lnTo>
                    <a:pt x="8" y="6"/>
                  </a:lnTo>
                  <a:lnTo>
                    <a:pt x="8" y="5"/>
                  </a:lnTo>
                  <a:lnTo>
                    <a:pt x="8" y="4"/>
                  </a:lnTo>
                  <a:lnTo>
                    <a:pt x="8" y="3"/>
                  </a:lnTo>
                  <a:lnTo>
                    <a:pt x="8" y="3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close/>
                </a:path>
              </a:pathLst>
            </a:custGeom>
            <a:solidFill>
              <a:srgbClr val="FF9800"/>
            </a:solidFill>
            <a:ln w="33478">
              <a:solidFill>
                <a:srgbClr val="FF9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9" name="Freeform 698"/>
            <p:cNvSpPr/>
            <p:nvPr/>
          </p:nvSpPr>
          <p:spPr>
            <a:xfrm>
              <a:off x="44757552" y="41735022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4" y="9"/>
                  </a:moveTo>
                  <a:lnTo>
                    <a:pt x="5" y="9"/>
                  </a:lnTo>
                  <a:lnTo>
                    <a:pt x="6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7"/>
                  </a:lnTo>
                  <a:lnTo>
                    <a:pt x="8" y="6"/>
                  </a:lnTo>
                  <a:lnTo>
                    <a:pt x="8" y="5"/>
                  </a:lnTo>
                  <a:lnTo>
                    <a:pt x="9" y="4"/>
                  </a:lnTo>
                  <a:lnTo>
                    <a:pt x="8" y="3"/>
                  </a:lnTo>
                  <a:lnTo>
                    <a:pt x="8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3" y="8"/>
                  </a:lnTo>
                  <a:lnTo>
                    <a:pt x="3" y="9"/>
                  </a:lnTo>
                  <a:lnTo>
                    <a:pt x="4" y="9"/>
                  </a:lnTo>
                  <a:close/>
                </a:path>
              </a:pathLst>
            </a:custGeom>
            <a:solidFill>
              <a:srgbClr val="FF9800"/>
            </a:solidFill>
            <a:ln w="33478">
              <a:solidFill>
                <a:srgbClr val="FF9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0" name="Freeform 699"/>
            <p:cNvSpPr/>
            <p:nvPr/>
          </p:nvSpPr>
          <p:spPr>
            <a:xfrm>
              <a:off x="45895824" y="41031971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4" y="9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8"/>
                  </a:lnTo>
                  <a:lnTo>
                    <a:pt x="8" y="7"/>
                  </a:lnTo>
                  <a:lnTo>
                    <a:pt x="8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8" y="3"/>
                  </a:lnTo>
                  <a:lnTo>
                    <a:pt x="8" y="2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3" y="9"/>
                  </a:lnTo>
                  <a:lnTo>
                    <a:pt x="4" y="9"/>
                  </a:lnTo>
                  <a:lnTo>
                    <a:pt x="4" y="9"/>
                  </a:lnTo>
                  <a:close/>
                </a:path>
              </a:pathLst>
            </a:custGeom>
            <a:solidFill>
              <a:srgbClr val="FF9800"/>
            </a:solidFill>
            <a:ln w="33478">
              <a:solidFill>
                <a:srgbClr val="FF9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1" name="Freeform 700"/>
            <p:cNvSpPr/>
            <p:nvPr/>
          </p:nvSpPr>
          <p:spPr>
            <a:xfrm>
              <a:off x="47034097" y="40027613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5" y="9"/>
                  </a:moveTo>
                  <a:lnTo>
                    <a:pt x="5" y="9"/>
                  </a:lnTo>
                  <a:lnTo>
                    <a:pt x="6" y="8"/>
                  </a:lnTo>
                  <a:lnTo>
                    <a:pt x="7" y="8"/>
                  </a:lnTo>
                  <a:lnTo>
                    <a:pt x="8" y="7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3" y="8"/>
                  </a:lnTo>
                  <a:lnTo>
                    <a:pt x="4" y="9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FF9800"/>
            </a:solidFill>
            <a:ln w="33478">
              <a:solidFill>
                <a:srgbClr val="FF9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2" name="Freeform 701"/>
            <p:cNvSpPr/>
            <p:nvPr/>
          </p:nvSpPr>
          <p:spPr>
            <a:xfrm>
              <a:off x="48172370" y="38989776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5" y="9"/>
                  </a:moveTo>
                  <a:lnTo>
                    <a:pt x="6" y="9"/>
                  </a:lnTo>
                  <a:lnTo>
                    <a:pt x="6" y="8"/>
                  </a:lnTo>
                  <a:lnTo>
                    <a:pt x="7" y="8"/>
                  </a:lnTo>
                  <a:lnTo>
                    <a:pt x="8" y="7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9" y="3"/>
                  </a:lnTo>
                  <a:lnTo>
                    <a:pt x="8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3" y="8"/>
                  </a:lnTo>
                  <a:lnTo>
                    <a:pt x="4" y="9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FF9800"/>
            </a:solidFill>
            <a:ln w="33478">
              <a:solidFill>
                <a:srgbClr val="FF9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3" name="Freeform 702"/>
            <p:cNvSpPr/>
            <p:nvPr/>
          </p:nvSpPr>
          <p:spPr>
            <a:xfrm>
              <a:off x="38731402" y="34637557"/>
              <a:ext cx="0" cy="8704439"/>
            </a:xfrm>
            <a:custGeom>
              <a:avLst/>
              <a:gdLst/>
              <a:ahLst/>
              <a:cxnLst/>
              <a:rect l="l" t="t" r="r" b="b"/>
              <a:pathLst>
                <a:path w="0" h="260">
                  <a:moveTo>
                    <a:pt x="0" y="260"/>
                  </a:moveTo>
                  <a:lnTo>
                    <a:pt x="0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4" name="Freeform 703"/>
            <p:cNvSpPr/>
            <p:nvPr/>
          </p:nvSpPr>
          <p:spPr>
            <a:xfrm>
              <a:off x="38731402" y="43341996"/>
              <a:ext cx="10344891" cy="0"/>
            </a:xfrm>
            <a:custGeom>
              <a:avLst/>
              <a:gdLst/>
              <a:ahLst/>
              <a:cxnLst/>
              <a:rect l="l" t="t" r="r" b="b"/>
              <a:pathLst>
                <a:path w="309" h="0">
                  <a:moveTo>
                    <a:pt x="0" y="0"/>
                  </a:moveTo>
                  <a:lnTo>
                    <a:pt x="309" y="0"/>
                  </a:lnTo>
                </a:path>
              </a:pathLst>
            </a:custGeom>
            <a:noFill/>
            <a:ln w="635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5" name="Freeform 704"/>
            <p:cNvSpPr/>
            <p:nvPr/>
          </p:nvSpPr>
          <p:spPr>
            <a:xfrm>
              <a:off x="43619279" y="35574958"/>
              <a:ext cx="1372623" cy="0"/>
            </a:xfrm>
            <a:custGeom>
              <a:avLst/>
              <a:gdLst/>
              <a:ahLst/>
              <a:cxnLst/>
              <a:rect l="l" t="t" r="r" b="b"/>
              <a:pathLst>
                <a:path w="41" h="0">
                  <a:moveTo>
                    <a:pt x="0" y="0"/>
                  </a:moveTo>
                  <a:lnTo>
                    <a:pt x="21" y="0"/>
                  </a:lnTo>
                  <a:lnTo>
                    <a:pt x="41" y="0"/>
                  </a:lnTo>
                </a:path>
              </a:pathLst>
            </a:custGeom>
            <a:noFill/>
            <a:ln w="133914">
              <a:solidFill>
                <a:srgbClr val="42A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6" name="Freeform 705"/>
            <p:cNvSpPr/>
            <p:nvPr/>
          </p:nvSpPr>
          <p:spPr>
            <a:xfrm>
              <a:off x="44154937" y="35441043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5" y="9"/>
                  </a:moveTo>
                  <a:lnTo>
                    <a:pt x="5" y="9"/>
                  </a:lnTo>
                  <a:lnTo>
                    <a:pt x="6" y="8"/>
                  </a:lnTo>
                  <a:lnTo>
                    <a:pt x="7" y="8"/>
                  </a:lnTo>
                  <a:lnTo>
                    <a:pt x="8" y="7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9" y="2"/>
                  </a:lnTo>
                  <a:lnTo>
                    <a:pt x="8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3" y="8"/>
                  </a:lnTo>
                  <a:lnTo>
                    <a:pt x="4" y="9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42A6F5"/>
            </a:solidFill>
            <a:ln w="33478">
              <a:solidFill>
                <a:srgbClr val="42A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7" name="TextBox 706"/>
            <p:cNvSpPr txBox="1"/>
            <p:nvPr/>
          </p:nvSpPr>
          <p:spPr>
            <a:xfrm>
              <a:off x="45547121" y="35236454"/>
              <a:ext cx="293217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Baseline</a:t>
              </a:r>
            </a:p>
          </p:txBody>
        </p:sp>
        <p:sp>
          <p:nvSpPr>
            <p:cNvPr id="708" name="Freeform 707"/>
            <p:cNvSpPr/>
            <p:nvPr/>
          </p:nvSpPr>
          <p:spPr>
            <a:xfrm>
              <a:off x="43619279" y="36612795"/>
              <a:ext cx="1372623" cy="0"/>
            </a:xfrm>
            <a:custGeom>
              <a:avLst/>
              <a:gdLst/>
              <a:ahLst/>
              <a:cxnLst/>
              <a:rect l="l" t="t" r="r" b="b"/>
              <a:pathLst>
                <a:path w="41" h="0">
                  <a:moveTo>
                    <a:pt x="0" y="0"/>
                  </a:moveTo>
                  <a:lnTo>
                    <a:pt x="21" y="0"/>
                  </a:lnTo>
                  <a:lnTo>
                    <a:pt x="41" y="0"/>
                  </a:lnTo>
                </a:path>
              </a:pathLst>
            </a:custGeom>
            <a:noFill/>
            <a:ln w="133914">
              <a:solidFill>
                <a:srgbClr val="4CAF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9" name="Freeform 708"/>
            <p:cNvSpPr/>
            <p:nvPr/>
          </p:nvSpPr>
          <p:spPr>
            <a:xfrm>
              <a:off x="44154937" y="36445402"/>
              <a:ext cx="301308" cy="334786"/>
            </a:xfrm>
            <a:custGeom>
              <a:avLst/>
              <a:gdLst/>
              <a:ahLst/>
              <a:cxnLst/>
              <a:rect l="l" t="t" r="r" b="b"/>
              <a:pathLst>
                <a:path w="9" h="10">
                  <a:moveTo>
                    <a:pt x="5" y="10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7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8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4CAF50"/>
            </a:solidFill>
            <a:ln w="33478">
              <a:solidFill>
                <a:srgbClr val="4CAF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0" name="TextBox 709"/>
            <p:cNvSpPr txBox="1"/>
            <p:nvPr/>
          </p:nvSpPr>
          <p:spPr>
            <a:xfrm>
              <a:off x="45547121" y="36269687"/>
              <a:ext cx="293217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Balanced</a:t>
              </a:r>
            </a:p>
          </p:txBody>
        </p:sp>
        <p:sp>
          <p:nvSpPr>
            <p:cNvPr id="711" name="Freeform 710"/>
            <p:cNvSpPr/>
            <p:nvPr/>
          </p:nvSpPr>
          <p:spPr>
            <a:xfrm>
              <a:off x="43619279" y="37650632"/>
              <a:ext cx="1372623" cy="0"/>
            </a:xfrm>
            <a:custGeom>
              <a:avLst/>
              <a:gdLst/>
              <a:ahLst/>
              <a:cxnLst/>
              <a:rect l="l" t="t" r="r" b="b"/>
              <a:pathLst>
                <a:path w="41" h="0">
                  <a:moveTo>
                    <a:pt x="0" y="0"/>
                  </a:moveTo>
                  <a:lnTo>
                    <a:pt x="21" y="0"/>
                  </a:lnTo>
                  <a:lnTo>
                    <a:pt x="41" y="0"/>
                  </a:lnTo>
                </a:path>
              </a:pathLst>
            </a:custGeom>
            <a:noFill/>
            <a:ln w="133914">
              <a:solidFill>
                <a:srgbClr val="FF9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2" name="Freeform 711"/>
            <p:cNvSpPr/>
            <p:nvPr/>
          </p:nvSpPr>
          <p:spPr>
            <a:xfrm>
              <a:off x="44154937" y="37483239"/>
              <a:ext cx="301308" cy="301308"/>
            </a:xfrm>
            <a:custGeom>
              <a:avLst/>
              <a:gdLst/>
              <a:ahLst/>
              <a:cxnLst/>
              <a:rect l="l" t="t" r="r" b="b"/>
              <a:pathLst>
                <a:path w="9" h="9">
                  <a:moveTo>
                    <a:pt x="5" y="9"/>
                  </a:moveTo>
                  <a:lnTo>
                    <a:pt x="5" y="9"/>
                  </a:lnTo>
                  <a:lnTo>
                    <a:pt x="6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7"/>
                  </a:lnTo>
                  <a:lnTo>
                    <a:pt x="9" y="6"/>
                  </a:lnTo>
                  <a:lnTo>
                    <a:pt x="9" y="5"/>
                  </a:lnTo>
                  <a:lnTo>
                    <a:pt x="9" y="4"/>
                  </a:lnTo>
                  <a:lnTo>
                    <a:pt x="9" y="3"/>
                  </a:lnTo>
                  <a:lnTo>
                    <a:pt x="8" y="2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5" y="9"/>
                  </a:lnTo>
                  <a:close/>
                </a:path>
              </a:pathLst>
            </a:custGeom>
            <a:solidFill>
              <a:srgbClr val="FF9800"/>
            </a:solidFill>
            <a:ln w="33478">
              <a:solidFill>
                <a:srgbClr val="FF9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3" name="TextBox 712"/>
            <p:cNvSpPr txBox="1"/>
            <p:nvPr/>
          </p:nvSpPr>
          <p:spPr>
            <a:xfrm>
              <a:off x="45547121" y="37302921"/>
              <a:ext cx="2932176" cy="7802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4800" i="0" b="0">
                  <a:solidFill>
                    <a:srgbClr val="000000"/>
                  </a:solidFill>
                  <a:latin typeface="Calibri"/>
                </a:rPr>
                <a:t>Weighted</a:t>
              </a:r>
            </a:p>
          </p:txBody>
        </p:sp>
        <p:sp>
          <p:nvSpPr>
            <p:cNvPr id="714" name="TextBox 713"/>
            <p:cNvSpPr txBox="1"/>
            <p:nvPr/>
          </p:nvSpPr>
          <p:spPr>
            <a:xfrm>
              <a:off x="34075370" y="32858420"/>
              <a:ext cx="11794744" cy="1235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7600" i="1" b="1">
                  <a:solidFill>
                    <a:srgbClr val="000000"/>
                  </a:solidFill>
                  <a:latin typeface="Calibri"/>
                </a:rPr>
                <a:t>i. Calibration curves</a:t>
              </a:r>
            </a:p>
          </p:txBody>
        </p:sp>
      </p:grpSp>
      <p:sp>
        <p:nvSpPr>
          <p:cNvPr id="716" name="Delivery boundary 2-54in"/>
          <p:cNvSpPr/>
          <p:nvPr/>
        </p:nvSpPr>
        <p:spPr>
          <a:xfrm>
            <a:off x="1828800" y="0"/>
            <a:ext cx="47548800" cy="47548800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BDBDA"/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 sz="88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pc="http://schemas.microsoft.com/office/infopath/2007/PartnerControl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ma:contentTypeName="文档" ma:contentTypeVersion="14" ct:_="" ma:contentTypeScope="" ma:_="" ma:versionID="813ff339d406dfde3668e7a2a91b4adc" ma:contentTypeID="0x01010060F966A5AFCC8C46ABC64F66D7954D2C" ma:contentTypeDescription="新建文档。">
  <xsd:schema xmlns:p="http://schemas.microsoft.com/office/2006/metadata/properties" xmlns:xs="http://www.w3.org/2001/XMLSchema" xmlns:ns3="4e4158f4-36a4-4199-a202-3db40202b331" xmlns:xsd="http://www.w3.org/2001/XMLSchema" ma:fieldsID="81360fd4693f3a9e00b954307a711030" targetNamespace="http://schemas.microsoft.com/office/2006/metadata/properties" ma:root="true" ns3:_="">
    <xsd:import namespace="4e4158f4-36a4-4199-a202-3db40202b33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pc="http://schemas.microsoft.com/office/infopath/2007/PartnerControls" xmlns:dms="http://schemas.microsoft.com/office/2006/documentManagement/types" xmlns:xs="http://www.w3.org/2001/XMLSchema" xmlns:xsd="http://www.w3.org/2001/XMLSchema" elementFormDefault="qualified" targetNamespace="4e4158f4-36a4-4199-a202-3db40202b331">
    <xsd:import namespace="http://schemas.microsoft.com/office/2006/documentManagement/types"/>
    <xsd:import namespace="http://schemas.microsoft.com/office/infopath/2007/PartnerControls"/>
    <xsd:element name="MediaServiceMetadata" ma:index="8" ma:hidden="true" ma:internalName="MediaServiceMetadata" nillable="true" ma:displayName="MediaServiceMetadata" ma:readOnly="true">
      <xsd:simpleType>
        <xsd:restriction base="dms:Note"/>
      </xsd:simpleType>
    </xsd:element>
    <xsd:element name="MediaServiceFastMetadata" ma:index="9" ma:hidden="true" ma:internalName="MediaServiceFastMetadata" nillable="true" ma:displayName="MediaServiceFastMetadata" ma:readOnly="true">
      <xsd:simpleType>
        <xsd:restriction base="dms:Note"/>
      </xsd:simpleType>
    </xsd:element>
    <xsd:element name="MediaServiceAutoTags" ma:index="10" ma:internalName="MediaServiceAutoTags" nillable="true" ma:displayName="Tags" ma:readOnly="true">
      <xsd:simpleType>
        <xsd:restriction base="dms:Text"/>
      </xsd:simpleType>
    </xsd:element>
    <xsd:element name="MediaServiceOCR" ma:index="11" ma:internalName="MediaServiceOCR" nillable="true" ma:displayName="Extracted Text" ma:readOnly="true">
      <xsd:simpleType>
        <xsd:restriction base="dms:Note">
          <xsd:maxLength value="255"/>
        </xsd:restriction>
      </xsd:simpleType>
    </xsd:element>
    <xsd:element name="MediaServiceGenerationTime" ma:index="12" ma:hidden="true" ma:internalName="MediaServiceGenerationTime" nillable="true" ma:displayName="MediaServiceGenerationTime" ma:readOnly="true">
      <xsd:simpleType>
        <xsd:restriction base="dms:Text"/>
      </xsd:simpleType>
    </xsd:element>
    <xsd:element name="MediaServiceEventHashCode" ma:index="13" ma:hidden="true" ma:internalName="MediaServiceEventHashCode" nillable="true" ma:displayName="MediaServiceEventHashCode" ma:readOnly="true">
      <xsd:simpleType>
        <xsd:restriction base="dms:Text"/>
      </xsd:simpleType>
    </xsd:element>
    <xsd:element name="MediaServiceAutoKeyPoints" ma:index="14" ma:hidden="true" ma:internalName="MediaServiceAutoKeyPoints" nillable="true" ma:displayName="MediaServiceAutoKeyPoints" ma:readOnly="true">
      <xsd:simpleType>
        <xsd:restriction base="dms:Note"/>
      </xsd:simpleType>
    </xsd:element>
    <xsd:element name="MediaServiceKeyPoints" ma:index="15" ma:internalName="MediaServiceKeyPoints" nillable="true" ma:displayName="KeyPoints" ma:readOnly="true">
      <xsd:simpleType>
        <xsd:restriction base="dms:Note">
          <xsd:maxLength value="255"/>
        </xsd:restriction>
      </xsd:simpleType>
    </xsd:element>
    <xsd:element name="MediaServiceDateTaken" ma:index="16" ma:hidden="true" ma:internalName="MediaServiceDateTaken" nillable="true" ma:displayName="MediaServiceDateTaken" ma:readOnly="true">
      <xsd:simpleType>
        <xsd:restriction base="dms:Text"/>
      </xsd:simpleType>
    </xsd:element>
    <xsd:element name="MediaServiceLocation" ma:index="17" ma:internalName="MediaServiceLocation" nillable="true" ma:displayName="Location" ma:readOnly="true">
      <xsd:simpleType>
        <xsd:restriction base="dms:Text"/>
      </xsd:simpleType>
    </xsd:element>
    <xsd:element name="MediaLengthInSeconds" ma:index="18" ma:hidden="true" ma:internalName="MediaLengthInSeconds" nillable="true" ma:displayName="MediaLengthInSeconds" ma:readOnly="true">
      <xsd:simpleType>
        <xsd:restriction base="dms:Unknown"/>
      </xsd:simpleType>
    </xsd:element>
    <xsd:element name="MediaServiceObjectDetectorVersions" ma:index="19" ma:hidden="true" ma:indexed="true" ma:internalName="MediaServiceObjectDetectorVersions" nillable="true" ma:displayName="MediaServiceObjectDetectorVersions" ma:readOnly="true">
      <xsd:simpleType>
        <xsd:restriction base="dms:Text"/>
      </xsd:simpleType>
    </xsd:element>
    <xsd:element name="MediaServiceSystemTags" ma:index="20" ma:hidden="true" ma:internalName="MediaServiceSystemTags" nillable="true" ma:displayName="MediaServiceSystemTags" ma:readOnly="true">
      <xsd:simpleType>
        <xsd:restriction base="dms:Note"/>
      </xsd:simpleType>
    </xsd:element>
    <xsd:element name="MediaServiceSearchProperties" ma:index="21" ma:hidden="true" ma:internalName="MediaServiceSearchProperties" nillable="true" ma:displayName="MediaServiceSearchProperties" ma:readOnly="true">
      <xsd:simpleType>
        <xsd:restriction base="dms:Note"/>
      </xsd:simpleType>
    </xsd:element>
  </xsd:schema>
  <xsd:schema xmlns:dcterms="http://purl.org/dc/terms/" xmlns:xsi="http://www.w3.org/2001/XMLSchema-instance" xmlns:dc="http://purl.org/dc/elements/1.1/" xmlns="http://schemas.openxmlformats.org/package/2006/metadata/core-properties" xmlns:odoc="http://schemas.microsoft.com/internal/obd" xmlns:xsd="http://www.w3.org/2001/XMLSchema" elementFormDefault="qualified" targetNamespace="http://schemas.openxmlformats.org/package/2006/metadata/core-properties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minOccurs="0" name="contentType" ma:index="0" type="xsd:string" ma:displayName="内容类型" maxOccurs="1"/>
        <xsd:element ref="dc:title" minOccurs="0" ma:index="4" ma:displayName="标题" maxOccurs="1"/>
        <xsd:element ref="dc:subject" minOccurs="0" maxOccurs="1"/>
        <xsd:element ref="dc:description" minOccurs="0" maxOccurs="1"/>
        <xsd:element minOccurs="0" name="keywords" type="xsd:string" maxOccurs="1"/>
        <xsd:element ref="dc:language" minOccurs="0" maxOccurs="1"/>
        <xsd:element minOccurs="0" name="category" type="xsd:string" maxOccurs="1"/>
        <xsd:element minOccurs="0" name="version" type="xsd:string" maxOccurs="1"/>
        <xsd:element minOccurs="0" name="revision" type="xsd:string" maxOccurs="1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minOccurs="0" name="lastModifiedBy" type="xsd:string" maxOccurs="1"/>
        <xsd:element ref="dcterms:modified" minOccurs="0" maxOccurs="1"/>
        <xsd:element minOccurs="0" name="contentStatus" type="xsd:string" maxOccurs="1"/>
      </xsd:all>
    </xsd:complexType>
  </xsd:schema>
  <xs:schema xmlns:pc="http://schemas.microsoft.com/office/infopath/2007/PartnerControls" xmlns:xs="http://www.w3.org/2001/XMLSchema" elementFormDefault="qualified" targetNamespace="http://schemas.microsoft.com/office/infopath/2007/PartnerControls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FB9C5C-EF1F-4AFF-BEE4-B5020E9ECF8A}">
  <ds:schemaRefs/>
</ds:datastoreItem>
</file>

<file path=customXml/itemProps2.xml><?xml version="1.0" encoding="utf-8"?>
<ds:datastoreItem xmlns:ds="http://schemas.openxmlformats.org/officeDocument/2006/customXml" ds:itemID="{B604FDE4-0F1D-48CF-8718-F2A185E270CD}">
  <ds:schemaRefs/>
</ds:datastoreItem>
</file>

<file path=customXml/itemProps3.xml><?xml version="1.0" encoding="utf-8"?>
<ds:datastoreItem xmlns:ds="http://schemas.openxmlformats.org/officeDocument/2006/customXml" ds:itemID="{F0A66B84-CF4E-4D3B-812F-000377695FA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1706</Words>
  <Application>WPS 演示</Application>
  <PresentationFormat>自定义</PresentationFormat>
  <Paragraphs>656</Paragraphs>
  <Slides>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Cambria</vt:lpstr>
      <vt:lpstr>宋体</vt:lpstr>
      <vt:lpstr>Arial Unicode MS</vt:lpstr>
      <vt:lpstr>等线 Light</vt:lpstr>
      <vt:lpstr>汉仪中等线KW</vt:lpstr>
      <vt:lpstr>Calibri Light</vt:lpstr>
      <vt:lpstr>等线</vt:lpstr>
      <vt:lpstr>汉仪书宋二KW</vt:lpstr>
      <vt:lpstr>苹方-简</vt:lpstr>
      <vt:lpstr>微软雅黑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玲燕 郑</dc:creator>
  <cp:lastModifiedBy>潘子祺</cp:lastModifiedBy>
  <cp:revision>2288</cp:revision>
  <dcterms:created xsi:type="dcterms:W3CDTF">2026-07-18T09:37:39Z</dcterms:created>
  <dcterms:modified xsi:type="dcterms:W3CDTF">2026-07-18T09:37:39Z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0x01010060F966A5AFCC8C46ABC64F66D7954D2C</vt:lpwstr>
  </property>
  <property fmtid="{D5CDD505-2E9C-101B-9397-08002B2CF9AE}" pid="3" name="ICV">
    <vt:lpwstr>20137CD907C54BA8A9E7D8F390DA4436_13</vt:lpwstr>
  </property>
  <property fmtid="{D5CDD505-2E9C-101B-9397-08002B2CF9AE}" pid="4" name="KSOProductBuildVer">
    <vt:lpwstr>2052-12.1.26026.26026</vt:lpwstr>
  </property>
</Properties>
</file>